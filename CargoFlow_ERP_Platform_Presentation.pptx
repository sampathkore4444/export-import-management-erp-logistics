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0E7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24160" y="4206240"/>
            <a:ext cx="4754880" cy="4754880"/>
          </a:xfrm>
          <a:prstGeom prst="ellipse">
            <a:avLst/>
          </a:prstGeom>
          <a:solidFill>
            <a:srgbClr val="0A3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463040" y="5120640"/>
            <a:ext cx="4023360" cy="4023360"/>
          </a:xfrm>
          <a:prstGeom prst="ellipse">
            <a:avLst/>
          </a:prstGeom>
          <a:solidFill>
            <a:srgbClr val="08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777240"/>
            <a:ext cx="777240" cy="777240"/>
          </a:xfrm>
          <a:prstGeom prst="roundRect">
            <a:avLst>
              <a:gd name="adj" fmla="val 26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550" b="1" i="0">
                <a:solidFill>
                  <a:srgbClr val="FFFFFF"/>
                </a:solidFill>
                <a:latin typeface="Segoe UI"/>
              </a:rPr>
              <a:t>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868680"/>
            <a:ext cx="5486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Cargo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3240" y="868680"/>
            <a:ext cx="3657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7DD3FC"/>
                </a:solidFill>
                <a:latin typeface="Segoe UI"/>
              </a:rPr>
              <a:t>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12984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1">
                <a:solidFill>
                  <a:srgbClr val="BAE6FD"/>
                </a:solidFill>
                <a:latin typeface="Segoe UI"/>
              </a:rPr>
              <a:t>ERP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31720"/>
            <a:ext cx="1005840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Segoe UI"/>
              </a:rPr>
              <a:t>The complete operations platform for import, export &amp; air freight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160520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7DD3FC"/>
                </a:solidFill>
                <a:latin typeface="Segoe UI"/>
              </a:rPr>
              <a:t>Fleet  ·  Container tracking  ·  Warehouse &amp; inventory  ·  Finance &amp; profitability  ·  Built-in AI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5120640"/>
            <a:ext cx="2743200" cy="27432"/>
          </a:xfrm>
          <a:prstGeom prst="rect">
            <a:avLst/>
          </a:prstGeom>
          <a:solidFill>
            <a:srgbClr val="1E6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349240"/>
            <a:ext cx="9601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Prepared for:  [Logistics Company Name]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806440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9CC8E8"/>
                </a:solidFill>
                <a:latin typeface="Segoe UI"/>
              </a:rPr>
              <a:t>Built for freight forwarders, agents &amp; 3PL operators in Cambodia and the region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635508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9CC8E8"/>
                </a:solidFill>
                <a:latin typeface="Segoe UI"/>
              </a:rPr>
              <a:t>sales@cargoflow.app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284C7"/>
                </a:solidFill>
                <a:latin typeface="Segoe UI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9441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Segoe UI"/>
              </a:rPr>
              <a:t>What we'll cover today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44752"/>
            <a:ext cx="1143000" cy="457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6437376"/>
            <a:ext cx="11094415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Segoe UI"/>
              </a:rPr>
              <a:t>CargoFlow ERP  ·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14255" y="651052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Segoe UI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5432907" cy="11887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167128"/>
            <a:ext cx="822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0EA5E9"/>
                </a:solidFill>
                <a:latin typeface="Segoe U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185415"/>
            <a:ext cx="415274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Segoe UI"/>
              </a:rPr>
              <a:t>The challenge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587752"/>
            <a:ext cx="415274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64748B"/>
                </a:solidFill>
                <a:latin typeface="Segoe UI"/>
              </a:rPr>
              <a:t>Where logistics operations lose time and money today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0147" y="1965960"/>
            <a:ext cx="5432907" cy="11887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6179" y="2167128"/>
            <a:ext cx="822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0EA5E9"/>
                </a:solidFill>
                <a:latin typeface="Segoe U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1707" y="2185415"/>
            <a:ext cx="415274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Segoe UI"/>
              </a:rPr>
              <a:t>CargoFlow at a glance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1707" y="2587752"/>
            <a:ext cx="415274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64748B"/>
                </a:solidFill>
                <a:latin typeface="Segoe UI"/>
              </a:rPr>
              <a:t>One platform from booking to closure — the big picture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383280"/>
            <a:ext cx="5432907" cy="11887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584448"/>
            <a:ext cx="822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0EA5E9"/>
                </a:solidFill>
                <a:latin typeface="Segoe U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3602736"/>
            <a:ext cx="415274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Segoe UI"/>
              </a:rPr>
              <a:t>Core workflows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4005072"/>
            <a:ext cx="415274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64748B"/>
                </a:solidFill>
                <a:latin typeface="Segoe UI"/>
              </a:rPr>
              <a:t>Import &amp; export management with guided status pipelines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0147" y="3383280"/>
            <a:ext cx="5432907" cy="11887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66179" y="3584448"/>
            <a:ext cx="822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0EA5E9"/>
                </a:solidFill>
                <a:latin typeface="Segoe U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1707" y="3602736"/>
            <a:ext cx="415274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Segoe UI"/>
              </a:rPr>
              <a:t>Advanced modules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1707" y="4005072"/>
            <a:ext cx="415274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64748B"/>
                </a:solidFill>
                <a:latin typeface="Segoe UI"/>
              </a:rPr>
              <a:t>Air freight, container tracking, fleet, finance, warehouse &amp; export docs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800600"/>
            <a:ext cx="5432907" cy="11887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" y="5001768"/>
            <a:ext cx="822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0EA5E9"/>
                </a:solidFill>
                <a:latin typeface="Segoe UI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00200" y="5020056"/>
            <a:ext cx="415274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Segoe UI"/>
              </a:rPr>
              <a:t>Built-in AI copilot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" y="5422392"/>
            <a:ext cx="415274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64748B"/>
                </a:solidFill>
                <a:latin typeface="Segoe UI"/>
              </a:rPr>
              <a:t>Self-hosted AI for chat, OCR, predictions and reports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0147" y="4800600"/>
            <a:ext cx="5432907" cy="11887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66179" y="5001768"/>
            <a:ext cx="822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0EA5E9"/>
                </a:solidFill>
                <a:latin typeface="Segoe UI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1707" y="5020056"/>
            <a:ext cx="415274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Segoe UI"/>
              </a:rPr>
              <a:t>Security &amp; getting started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61707" y="5422392"/>
            <a:ext cx="415274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64748B"/>
                </a:solidFill>
                <a:latin typeface="Segoe UI"/>
              </a:rPr>
              <a:t>Deployment, plans, trial and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284C7"/>
                </a:solidFill>
                <a:latin typeface="Segoe UI"/>
              </a:rPr>
              <a:t>THE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9441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Segoe UI"/>
              </a:rPr>
              <a:t>Why operations teams are stretched thin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44752"/>
            <a:ext cx="1143000" cy="457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9441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Segoe UI"/>
              </a:rPr>
              <a:t>Most forwarders run their business across a patchwork of tools — and it shows in the gaps.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37376"/>
            <a:ext cx="11094415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Segoe UI"/>
              </a:rPr>
              <a:t>CargoFlow ERP  ·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14255" y="651052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Segoe UI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148840"/>
            <a:ext cx="5410047" cy="1234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148840"/>
            <a:ext cx="73152" cy="1234440"/>
          </a:xfrm>
          <a:prstGeom prst="rect">
            <a:avLst/>
          </a:prstGeom>
          <a:solidFill>
            <a:srgbClr val="F59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2331720"/>
            <a:ext cx="49071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Segoe UI"/>
              </a:rPr>
              <a:t>Scattered visibility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715768"/>
            <a:ext cx="4907127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64748B"/>
                </a:solidFill>
                <a:latin typeface="Segoe UI"/>
              </a:rPr>
              <a:t>Shipments live in spreadsheets, WhatsApp and email threads — no single source of truth.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2148840"/>
            <a:ext cx="5410047" cy="1234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33007" y="2148840"/>
            <a:ext cx="73152" cy="1234440"/>
          </a:xfrm>
          <a:prstGeom prst="rect">
            <a:avLst/>
          </a:prstGeom>
          <a:solidFill>
            <a:srgbClr val="F59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07327" y="2331720"/>
            <a:ext cx="49071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Segoe UI"/>
              </a:rPr>
              <a:t>Late alerts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7327" y="2715768"/>
            <a:ext cx="4907127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64748B"/>
                </a:solidFill>
                <a:latin typeface="Segoe UI"/>
              </a:rPr>
              <a:t>Missed ETAs, stuck jobs and expiring driver documents are discovered after the problem hits.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584448"/>
            <a:ext cx="5410047" cy="1234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584448"/>
            <a:ext cx="73152" cy="1234440"/>
          </a:xfrm>
          <a:prstGeom prst="rect">
            <a:avLst/>
          </a:prstGeom>
          <a:solidFill>
            <a:srgbClr val="F59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3767328"/>
            <a:ext cx="49071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Segoe UI"/>
              </a:rPr>
              <a:t>Weak profitability 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4151376"/>
            <a:ext cx="4907127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64748B"/>
                </a:solidFill>
                <a:latin typeface="Segoe UI"/>
              </a:rPr>
              <a:t>Revenue, vendor costs and payments are hard to reconcile per shipment.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3007" y="3584448"/>
            <a:ext cx="5410047" cy="1234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3007" y="3584448"/>
            <a:ext cx="73152" cy="1234440"/>
          </a:xfrm>
          <a:prstGeom prst="rect">
            <a:avLst/>
          </a:prstGeom>
          <a:solidFill>
            <a:srgbClr val="F59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07327" y="3767328"/>
            <a:ext cx="49071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Segoe UI"/>
              </a:rPr>
              <a:t>Siloed modes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07327" y="4151376"/>
            <a:ext cx="4907127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64748B"/>
                </a:solidFill>
                <a:latin typeface="Segoe UI"/>
              </a:rPr>
              <a:t>Sea, air and warehouse stock are tracked separately, so hand-offs get lost.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020056"/>
            <a:ext cx="5410047" cy="1234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5020056"/>
            <a:ext cx="73152" cy="1234440"/>
          </a:xfrm>
          <a:prstGeom prst="rect">
            <a:avLst/>
          </a:prstGeom>
          <a:solidFill>
            <a:srgbClr val="F59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59" y="5202936"/>
            <a:ext cx="49071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Segoe UI"/>
              </a:rPr>
              <a:t>Manual documents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59" y="5586984"/>
            <a:ext cx="4907127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64748B"/>
                </a:solidFill>
                <a:latin typeface="Segoe UI"/>
              </a:rPr>
              <a:t>Commercial invoices and packing lists are typed by hand for every shipment.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33007" y="5020056"/>
            <a:ext cx="5410047" cy="1234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33007" y="5020056"/>
            <a:ext cx="73152" cy="1234440"/>
          </a:xfrm>
          <a:prstGeom prst="rect">
            <a:avLst/>
          </a:prstGeom>
          <a:solidFill>
            <a:srgbClr val="F59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07327" y="5202936"/>
            <a:ext cx="49071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Segoe UI"/>
              </a:rPr>
              <a:t>Fragile hand-offs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07327" y="5586984"/>
            <a:ext cx="4907127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64748B"/>
                </a:solidFill>
                <a:latin typeface="Segoe UI"/>
              </a:rPr>
              <a:t>Imports, exports, trucks and depots don't share one status language.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284C7"/>
                </a:solidFill>
                <a:latin typeface="Segoe UI"/>
              </a:rPr>
              <a:t>CARGOFLOW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9441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Segoe UI"/>
              </a:rPr>
              <a:t>One platform. Every shipment. Fully tracked.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44752"/>
            <a:ext cx="1143000" cy="457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6437376"/>
            <a:ext cx="11094415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Segoe UI"/>
              </a:rPr>
              <a:t>CargoFlow ERP  ·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14255" y="651052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Segoe UI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2602153" cy="1600200"/>
          </a:xfrm>
          <a:prstGeom prst="roundRect">
            <a:avLst>
              <a:gd name="adj" fmla="val 8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130552"/>
            <a:ext cx="214495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0284C7"/>
                </a:solidFill>
                <a:latin typeface="Segoe UI"/>
              </a:rPr>
              <a:t>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834639"/>
            <a:ext cx="214495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Segoe UI"/>
              </a:rPr>
              <a:t>Modular microservices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172968"/>
            <a:ext cx="214495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4748B"/>
                </a:solidFill>
                <a:latin typeface="Segoe UI"/>
              </a:rPr>
              <a:t>Auth · Import · Fleet · Master Data · AI · Warehouse · Gateway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79393" y="1965960"/>
            <a:ext cx="2602153" cy="1600200"/>
          </a:xfrm>
          <a:prstGeom prst="roundRect">
            <a:avLst>
              <a:gd name="adj" fmla="val 8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07993" y="2130552"/>
            <a:ext cx="214495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0284C7"/>
                </a:solidFill>
                <a:latin typeface="Segoe UI"/>
              </a:rPr>
              <a:t>80+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7993" y="2834639"/>
            <a:ext cx="214495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Segoe UI"/>
              </a:rPr>
              <a:t>API endpoints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7993" y="3172968"/>
            <a:ext cx="214495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4748B"/>
                </a:solidFill>
                <a:latin typeface="Segoe UI"/>
              </a:rPr>
              <a:t>A complete, role-aware API behind every screen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0147" y="1965960"/>
            <a:ext cx="2602153" cy="1600200"/>
          </a:xfrm>
          <a:prstGeom prst="roundRect">
            <a:avLst>
              <a:gd name="adj" fmla="val 8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38747" y="2130552"/>
            <a:ext cx="214495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0284C7"/>
                </a:solidFill>
                <a:latin typeface="Segoe UI"/>
              </a:rPr>
              <a:t>100%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8747" y="2834639"/>
            <a:ext cx="214495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Segoe UI"/>
              </a:rPr>
              <a:t>Self-hosted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38747" y="3172968"/>
            <a:ext cx="214495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4748B"/>
                </a:solidFill>
                <a:latin typeface="Segoe UI"/>
              </a:rPr>
              <a:t>Runs on your own infrastructure — full data control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40901" y="1965960"/>
            <a:ext cx="2602153" cy="1600200"/>
          </a:xfrm>
          <a:prstGeom prst="roundRect">
            <a:avLst>
              <a:gd name="adj" fmla="val 8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69501" y="2130552"/>
            <a:ext cx="214495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0284C7"/>
                </a:solidFill>
                <a:latin typeface="Segoe U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69501" y="2834639"/>
            <a:ext cx="214495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Segoe UI"/>
              </a:rPr>
              <a:t>Languages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69501" y="3172968"/>
            <a:ext cx="214495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4748B"/>
                </a:solidFill>
                <a:latin typeface="Segoe UI"/>
              </a:rPr>
              <a:t>English, Khmer and Chinese out of the box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794760"/>
            <a:ext cx="5410047" cy="10515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59" y="3959352"/>
            <a:ext cx="49071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284C7"/>
                </a:solidFill>
                <a:latin typeface="Segoe UI"/>
              </a:rPr>
              <a:t>Import &amp; export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" y="4325112"/>
            <a:ext cx="49071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64748B"/>
                </a:solidFill>
                <a:latin typeface="Segoe UI"/>
              </a:rPr>
              <a:t>Guided status pipelines with approvals and role-based actions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33007" y="3794760"/>
            <a:ext cx="5410047" cy="10515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07327" y="3959352"/>
            <a:ext cx="49071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284C7"/>
                </a:solidFill>
                <a:latin typeface="Segoe UI"/>
              </a:rPr>
              <a:t>Sea + air + warehouse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07327" y="4325112"/>
            <a:ext cx="49071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64748B"/>
                </a:solidFill>
                <a:latin typeface="Segoe UI"/>
              </a:rPr>
              <a:t>A single source of truth across every mode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047488"/>
            <a:ext cx="5410047" cy="10515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59" y="5212080"/>
            <a:ext cx="49071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284C7"/>
                </a:solidFill>
                <a:latin typeface="Segoe UI"/>
              </a:rPr>
              <a:t>Built-in AI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59" y="5577840"/>
            <a:ext cx="49071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64748B"/>
                </a:solidFill>
                <a:latin typeface="Segoe UI"/>
              </a:rPr>
              <a:t>Chat, OCR, delay prediction and weekly reports — all offline-capable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33007" y="5047488"/>
            <a:ext cx="5410047" cy="10515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07327" y="5212080"/>
            <a:ext cx="49071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284C7"/>
                </a:solidFill>
                <a:latin typeface="Segoe UI"/>
              </a:rPr>
              <a:t>Early-warning alerts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07327" y="5577840"/>
            <a:ext cx="49071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64748B"/>
                </a:solidFill>
                <a:latin typeface="Segoe UI"/>
              </a:rPr>
              <a:t>Past ETA/ETD and expiring driver documents, flagged automatically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284C7"/>
                </a:solidFill>
                <a:latin typeface="Segoe UI"/>
              </a:rPr>
              <a:t>CORE WORKFLOW  · 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9441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Segoe UI"/>
              </a:rPr>
              <a:t>Import management, end to 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44752"/>
            <a:ext cx="1143000" cy="457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9441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Segoe UI"/>
              </a:rPr>
              <a:t>Every step is a trackable status with approvals, documents and an activity log.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37376"/>
            <a:ext cx="11094415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Segoe UI"/>
              </a:rPr>
              <a:t>CargoFlow ERP  ·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14255" y="651052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Segoe UI"/>
              </a:rPr>
              <a:t>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148840"/>
            <a:ext cx="2602153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148840"/>
            <a:ext cx="2602153" cy="5486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13232" y="2350008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715768"/>
            <a:ext cx="227296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0F172A"/>
                </a:solidFill>
                <a:latin typeface="Segoe UI"/>
              </a:rPr>
              <a:t>Booking received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035808"/>
            <a:ext cx="227296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64748B"/>
                </a:solidFill>
                <a:latin typeface="Segoe UI"/>
              </a:rPr>
              <a:t>Container, vessel, ETA &amp; BL captured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79393" y="2148840"/>
            <a:ext cx="2602153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79393" y="2148840"/>
            <a:ext cx="2602153" cy="5486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543985" y="2350008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43985" y="2715768"/>
            <a:ext cx="227296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0F172A"/>
                </a:solidFill>
                <a:latin typeface="Segoe UI"/>
              </a:rPr>
              <a:t>Approval &amp; team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43985" y="3035808"/>
            <a:ext cx="227296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64748B"/>
                </a:solidFill>
                <a:latin typeface="Segoe UI"/>
              </a:rPr>
              <a:t>Approve and assign the ops team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0147" y="2148840"/>
            <a:ext cx="2602153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0147" y="2148840"/>
            <a:ext cx="2602153" cy="5486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374739" y="2350008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4739" y="2715768"/>
            <a:ext cx="227296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0F172A"/>
                </a:solidFill>
                <a:latin typeface="Segoe UI"/>
              </a:rPr>
              <a:t>License &amp; permits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4739" y="3035808"/>
            <a:ext cx="227296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64748B"/>
                </a:solidFill>
                <a:latin typeface="Segoe UI"/>
              </a:rPr>
              <a:t>Apply license, submit customs permit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0901" y="2148840"/>
            <a:ext cx="2602153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40901" y="2148840"/>
            <a:ext cx="2602153" cy="5486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205493" y="2350008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05493" y="2715768"/>
            <a:ext cx="227296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0F172A"/>
                </a:solidFill>
                <a:latin typeface="Segoe UI"/>
              </a:rPr>
              <a:t>Truck assignment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05493" y="3035808"/>
            <a:ext cx="227296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64748B"/>
                </a:solidFill>
                <a:latin typeface="Segoe UI"/>
              </a:rPr>
              <a:t>Internal truck or outsourced vendor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3867912"/>
            <a:ext cx="2602153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3867912"/>
            <a:ext cx="2602153" cy="5486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13232" y="4069080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" y="4434840"/>
            <a:ext cx="227296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0F172A"/>
                </a:solidFill>
                <a:latin typeface="Segoe UI"/>
              </a:rPr>
              <a:t>Vessel arrival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" y="4754880"/>
            <a:ext cx="227296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64748B"/>
                </a:solidFill>
                <a:latin typeface="Segoe UI"/>
              </a:rPr>
              <a:t>Record ATA at discharge port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79393" y="3867912"/>
            <a:ext cx="2602153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379393" y="3867912"/>
            <a:ext cx="2602153" cy="5486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543985" y="4069080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43985" y="4434840"/>
            <a:ext cx="227296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0F172A"/>
                </a:solidFill>
                <a:latin typeface="Segoe UI"/>
              </a:rPr>
              <a:t>Customs clearance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43985" y="4754880"/>
            <a:ext cx="227296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64748B"/>
                </a:solidFill>
                <a:latin typeface="Segoe UI"/>
              </a:rPr>
              <a:t>Inspection, duties and release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0147" y="3867912"/>
            <a:ext cx="2602153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10147" y="3867912"/>
            <a:ext cx="2602153" cy="5486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374739" y="4069080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74739" y="4434840"/>
            <a:ext cx="227296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0F172A"/>
                </a:solidFill>
                <a:latin typeface="Segoe UI"/>
              </a:rPr>
              <a:t>Delivery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74739" y="4754880"/>
            <a:ext cx="227296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64748B"/>
                </a:solidFill>
                <a:latin typeface="Segoe UI"/>
              </a:rPr>
              <a:t>Pick up, deliver, confirm unloading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040901" y="3867912"/>
            <a:ext cx="2602153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040901" y="3867912"/>
            <a:ext cx="2602153" cy="5486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9205493" y="4069080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05493" y="4434840"/>
            <a:ext cx="227296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0F172A"/>
                </a:solidFill>
                <a:latin typeface="Segoe UI"/>
              </a:rPr>
              <a:t>Completion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05493" y="4754880"/>
            <a:ext cx="227296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64748B"/>
                </a:solidFill>
                <a:latin typeface="Segoe UI"/>
              </a:rPr>
              <a:t>Return container and close job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284C7"/>
                </a:solidFill>
                <a:latin typeface="Segoe UI"/>
              </a:rPr>
              <a:t>CORE WORKFLOW  · 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9441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Segoe UI"/>
              </a:rPr>
              <a:t>Export management, end to 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44752"/>
            <a:ext cx="1143000" cy="457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9441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Segoe UI"/>
              </a:rPr>
              <a:t>A mirrored status pipeline with its own documents and activity log.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37376"/>
            <a:ext cx="11094415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Segoe UI"/>
              </a:rPr>
              <a:t>CargoFlow ERP  ·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14255" y="651052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Segoe UI"/>
              </a:rP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148840"/>
            <a:ext cx="2602153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148840"/>
            <a:ext cx="2602153" cy="54864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13232" y="2350008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715768"/>
            <a:ext cx="227296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0F172A"/>
                </a:solidFill>
                <a:latin typeface="Segoe UI"/>
              </a:rPr>
              <a:t>Outbound booking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035808"/>
            <a:ext cx="227296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64748B"/>
                </a:solidFill>
                <a:latin typeface="Segoe UI"/>
              </a:rPr>
              <a:t>Container, vessel, ETD &amp; BL captured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79393" y="2148840"/>
            <a:ext cx="2602153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79393" y="2148840"/>
            <a:ext cx="2602153" cy="54864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543985" y="2350008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43985" y="2715768"/>
            <a:ext cx="227296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0F172A"/>
                </a:solidFill>
                <a:latin typeface="Segoe UI"/>
              </a:rPr>
              <a:t>Approval &amp; team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43985" y="3035808"/>
            <a:ext cx="227296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64748B"/>
                </a:solidFill>
                <a:latin typeface="Segoe UI"/>
              </a:rPr>
              <a:t>Approve and assign the ops team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0147" y="2148840"/>
            <a:ext cx="2602153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0147" y="2148840"/>
            <a:ext cx="2602153" cy="54864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374739" y="2350008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4739" y="2715768"/>
            <a:ext cx="227296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0F172A"/>
                </a:solidFill>
                <a:latin typeface="Segoe UI"/>
              </a:rPr>
              <a:t>License &amp; permits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4739" y="3035808"/>
            <a:ext cx="227296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64748B"/>
                </a:solidFill>
                <a:latin typeface="Segoe UI"/>
              </a:rPr>
              <a:t>Export license and customs permit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0901" y="2148840"/>
            <a:ext cx="2602153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40901" y="2148840"/>
            <a:ext cx="2602153" cy="54864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205493" y="2350008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05493" y="2715768"/>
            <a:ext cx="227296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0F172A"/>
                </a:solidFill>
                <a:latin typeface="Segoe UI"/>
              </a:rPr>
              <a:t>Empty pickup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05493" y="3035808"/>
            <a:ext cx="227296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64748B"/>
                </a:solidFill>
                <a:latin typeface="Segoe UI"/>
              </a:rPr>
              <a:t>Collect empty container from depot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3867912"/>
            <a:ext cx="2602153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3867912"/>
            <a:ext cx="2602153" cy="54864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13232" y="4069080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" y="4434840"/>
            <a:ext cx="227296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0F172A"/>
                </a:solidFill>
                <a:latin typeface="Segoe UI"/>
              </a:rPr>
              <a:t>Stuffing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" y="4754880"/>
            <a:ext cx="227296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64748B"/>
                </a:solidFill>
                <a:latin typeface="Segoe UI"/>
              </a:rPr>
              <a:t>Confirm cargo stuffing at shipper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79393" y="3867912"/>
            <a:ext cx="2602153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379393" y="3867912"/>
            <a:ext cx="2602153" cy="54864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543985" y="4069080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43985" y="4434840"/>
            <a:ext cx="227296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0F172A"/>
                </a:solidFill>
                <a:latin typeface="Segoe UI"/>
              </a:rPr>
              <a:t>Gate-in &amp; EIR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43985" y="4754880"/>
            <a:ext cx="227296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64748B"/>
                </a:solidFill>
                <a:latin typeface="Segoe UI"/>
              </a:rPr>
              <a:t>Record gate-in with EIR number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0147" y="3867912"/>
            <a:ext cx="2602153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10147" y="3867912"/>
            <a:ext cx="2602153" cy="54864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374739" y="4069080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74739" y="4434840"/>
            <a:ext cx="227296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0F172A"/>
                </a:solidFill>
                <a:latin typeface="Segoe UI"/>
              </a:rPr>
              <a:t>Vessel departure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74739" y="4754880"/>
            <a:ext cx="227296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64748B"/>
                </a:solidFill>
                <a:latin typeface="Segoe UI"/>
              </a:rPr>
              <a:t>Record ATD of the vessel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040901" y="3867912"/>
            <a:ext cx="2602153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040901" y="3867912"/>
            <a:ext cx="2602153" cy="54864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9205493" y="4069080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05493" y="4434840"/>
            <a:ext cx="227296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0F172A"/>
                </a:solidFill>
                <a:latin typeface="Segoe UI"/>
              </a:rPr>
              <a:t>Clearance &amp; close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05493" y="4754880"/>
            <a:ext cx="227296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64748B"/>
                </a:solidFill>
                <a:latin typeface="Segoe UI"/>
              </a:rPr>
              <a:t>Export clearance then close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284C7"/>
                </a:solidFill>
                <a:latin typeface="Segoe UI"/>
              </a:rPr>
              <a:t>ADVANCED MODULE  · 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9441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Segoe UI"/>
              </a:rPr>
              <a:t>Air freight with full AWB tracking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44752"/>
            <a:ext cx="1143000" cy="457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9441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Segoe UI"/>
              </a:rPr>
              <a:t>A dedicated air job workflow alongside your sea operations.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37376"/>
            <a:ext cx="11094415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Segoe UI"/>
              </a:rPr>
              <a:t>CargoFlow ERP  ·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14255" y="651052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Segoe UI"/>
              </a:rPr>
              <a:t>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148840"/>
            <a:ext cx="2602153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148840"/>
            <a:ext cx="2602153" cy="5486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13232" y="2350008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715768"/>
            <a:ext cx="227296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0F172A"/>
                </a:solidFill>
                <a:latin typeface="Segoe UI"/>
              </a:rPr>
              <a:t>Air booking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035808"/>
            <a:ext cx="227296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64748B"/>
                </a:solidFill>
                <a:latin typeface="Segoe UI"/>
              </a:rPr>
              <a:t>AWB/HAWB, carrier, flight &amp; route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79393" y="2148840"/>
            <a:ext cx="2602153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79393" y="2148840"/>
            <a:ext cx="2602153" cy="5486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543985" y="2350008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43985" y="2715768"/>
            <a:ext cx="227296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0F172A"/>
                </a:solidFill>
                <a:latin typeface="Segoe UI"/>
              </a:rPr>
              <a:t>Approval &amp; team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43985" y="3035808"/>
            <a:ext cx="227296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64748B"/>
                </a:solidFill>
                <a:latin typeface="Segoe UI"/>
              </a:rPr>
              <a:t>Approve and assign ops team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0147" y="2148840"/>
            <a:ext cx="2602153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0147" y="2148840"/>
            <a:ext cx="2602153" cy="5486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374739" y="2350008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4739" y="2715768"/>
            <a:ext cx="227296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0F172A"/>
                </a:solidFill>
                <a:latin typeface="Segoe UI"/>
              </a:rPr>
              <a:t>License &amp; permits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4739" y="3035808"/>
            <a:ext cx="227296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64748B"/>
                </a:solidFill>
                <a:latin typeface="Segoe UI"/>
              </a:rPr>
              <a:t>Air export license, customs permit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0901" y="2148840"/>
            <a:ext cx="2602153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40901" y="2148840"/>
            <a:ext cx="2602153" cy="5486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205493" y="2350008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05493" y="2715768"/>
            <a:ext cx="227296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0F172A"/>
                </a:solidFill>
                <a:latin typeface="Segoe UI"/>
              </a:rPr>
              <a:t>Flight departure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05493" y="3035808"/>
            <a:ext cx="227296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64748B"/>
                </a:solidFill>
                <a:latin typeface="Segoe UI"/>
              </a:rPr>
              <a:t>Record ATD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3867912"/>
            <a:ext cx="2602153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3867912"/>
            <a:ext cx="2602153" cy="5486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13232" y="4069080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" y="4434840"/>
            <a:ext cx="227296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0F172A"/>
                </a:solidFill>
                <a:latin typeface="Segoe UI"/>
              </a:rPr>
              <a:t>Flight arrival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" y="4754880"/>
            <a:ext cx="227296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64748B"/>
                </a:solidFill>
                <a:latin typeface="Segoe UI"/>
              </a:rPr>
              <a:t>Record ATA at destination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79393" y="3867912"/>
            <a:ext cx="2602153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379393" y="3867912"/>
            <a:ext cx="2602153" cy="5486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543985" y="4069080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43985" y="4434840"/>
            <a:ext cx="227296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0F172A"/>
                </a:solidFill>
                <a:latin typeface="Segoe UI"/>
              </a:rPr>
              <a:t>Close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43985" y="4754880"/>
            <a:ext cx="227296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64748B"/>
                </a:solidFill>
                <a:latin typeface="Segoe UI"/>
              </a:rPr>
              <a:t>Close job and finalize billing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534924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Segoe UI"/>
              </a:rPr>
              <a:t>Search by AWB/HAWB, carrier, origin or destination · upload documents per job · full activity history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284C7"/>
                </a:solidFill>
                <a:latin typeface="Segoe UI"/>
              </a:rPr>
              <a:t>ADVANCED MODULE  · 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9441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Segoe UI"/>
              </a:rPr>
              <a:t>Container tracking that connects to every job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44752"/>
            <a:ext cx="1143000" cy="457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6437376"/>
            <a:ext cx="11094415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Segoe UI"/>
              </a:rPr>
              <a:t>CargoFlow ERP  ·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14255" y="651052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Segoe UI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221991"/>
            <a:ext cx="6071616" cy="34198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0F172A"/>
                </a:solidFill>
                <a:latin typeface="Segoe UI"/>
              </a:rPr>
              <a:t>Container operations, made visible</a:t>
            </a:r>
          </a:p>
          <a:p>
            <a:pPr algn="l" marL="219456" indent="-219456">
              <a:spcAft>
                <a:spcPts val="1000"/>
              </a:spcAft>
              <a:buFont typeface="Arial" pitchFamily="34" charset="0"/>
              <a:buChar char="•"/>
            </a:pPr>
            <a:r>
              <a:rPr sz="1500" b="1" i="0">
                <a:solidFill>
                  <a:srgbClr val="334155"/>
                </a:solidFill>
                <a:latin typeface="Segoe UI"/>
              </a:rPr>
              <a:t>Live registry — </a:t>
            </a:r>
            <a:r>
              <a:rPr sz="1500" b="0" i="0">
                <a:solidFill>
                  <a:srgbClr val="334155"/>
                </a:solidFill>
                <a:latin typeface="Segoe UI"/>
              </a:rPr>
              <a:t>Every container with unique number, size and type (dry / reefer / open-top).</a:t>
            </a:r>
          </a:p>
          <a:p>
            <a:pPr algn="l" marL="219456" indent="-219456">
              <a:spcAft>
                <a:spcPts val="1000"/>
              </a:spcAft>
              <a:buFont typeface="Arial" pitchFamily="34" charset="0"/>
              <a:buChar char="•"/>
            </a:pPr>
            <a:r>
              <a:rPr sz="1500" b="1" i="0">
                <a:solidFill>
                  <a:srgbClr val="334155"/>
                </a:solidFill>
                <a:latin typeface="Segoe UI"/>
              </a:rPr>
              <a:t>Auto event logging — </a:t>
            </a:r>
            <a:r>
              <a:rPr sz="1500" b="0" i="0">
                <a:solidFill>
                  <a:srgbClr val="334155"/>
                </a:solidFill>
                <a:latin typeface="Segoe UI"/>
              </a:rPr>
              <a:t>Registration and every status change are recorded automatically.</a:t>
            </a:r>
          </a:p>
          <a:p>
            <a:pPr algn="l" marL="219456" indent="-219456">
              <a:spcAft>
                <a:spcPts val="1000"/>
              </a:spcAft>
              <a:buFont typeface="Arial" pitchFamily="34" charset="0"/>
              <a:buChar char="•"/>
            </a:pPr>
            <a:r>
              <a:rPr sz="1500" b="1" i="0">
                <a:solidFill>
                  <a:srgbClr val="334155"/>
                </a:solidFill>
                <a:latin typeface="Segoe UI"/>
              </a:rPr>
              <a:t>Status timeline — </a:t>
            </a:r>
            <a:r>
              <a:rPr sz="1500" b="0" i="0">
                <a:solidFill>
                  <a:srgbClr val="334155"/>
                </a:solidFill>
                <a:latin typeface="Segoe UI"/>
              </a:rPr>
              <a:t>Empty → loaded → in transit → arrived → returned, with event history.</a:t>
            </a:r>
          </a:p>
          <a:p>
            <a:pPr algn="l" marL="219456" indent="-219456">
              <a:spcAft>
                <a:spcPts val="1000"/>
              </a:spcAft>
              <a:buFont typeface="Arial" pitchFamily="34" charset="0"/>
              <a:buChar char="•"/>
            </a:pPr>
            <a:r>
              <a:rPr sz="1500" b="1" i="0">
                <a:solidFill>
                  <a:srgbClr val="334155"/>
                </a:solidFill>
                <a:latin typeface="Segoe UI"/>
              </a:rPr>
              <a:t>In-transit view — </a:t>
            </a:r>
            <a:r>
              <a:rPr sz="1500" b="0" i="0">
                <a:solidFill>
                  <a:srgbClr val="334155"/>
                </a:solidFill>
                <a:latin typeface="Segoe UI"/>
              </a:rPr>
              <a:t>One click to see all containers currently on the move.</a:t>
            </a:r>
          </a:p>
          <a:p>
            <a:pPr algn="l" marL="219456" indent="-219456">
              <a:spcAft>
                <a:spcPts val="1000"/>
              </a:spcAft>
              <a:buFont typeface="Arial" pitchFamily="34" charset="0"/>
              <a:buChar char="•"/>
            </a:pPr>
            <a:r>
              <a:rPr sz="1500" b="1" i="0">
                <a:solidFill>
                  <a:srgbClr val="334155"/>
                </a:solidFill>
                <a:latin typeface="Segoe UI"/>
              </a:rPr>
              <a:t>Linked to jobs — </a:t>
            </a:r>
            <a:r>
              <a:rPr sz="1500" b="0" i="0">
                <a:solidFill>
                  <a:srgbClr val="334155"/>
                </a:solidFill>
                <a:latin typeface="Segoe UI"/>
              </a:rPr>
              <a:t>Import and export jobs reference the same container — no double entry.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1965960"/>
            <a:ext cx="4233672" cy="3931920"/>
          </a:xfrm>
          <a:prstGeom prst="roundRect">
            <a:avLst>
              <a:gd name="adj" fmla="val 6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06640" y="1965960"/>
            <a:ext cx="82296" cy="39319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17536" y="2221991"/>
            <a:ext cx="36850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284C7"/>
                </a:solidFill>
                <a:latin typeface="Segoe UI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17536" y="2679191"/>
            <a:ext cx="3611879" cy="30632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 algn="l" marL="219456" indent="-219456">
              <a:spcAft>
                <a:spcPts val="800"/>
              </a:spcAft>
              <a:buFont typeface="Arial" pitchFamily="34" charset="0"/>
              <a:buChar char="•"/>
            </a:pPr>
            <a:r>
              <a:rPr sz="1350" b="0" i="0">
                <a:solidFill>
                  <a:srgbClr val="334155"/>
                </a:solidFill>
                <a:latin typeface="Segoe UI"/>
              </a:rPr>
              <a:t>Know exactly where every container is, without calling the port.</a:t>
            </a:r>
          </a:p>
          <a:p>
            <a:pPr algn="l" marL="219456" indent="-219456">
              <a:spcAft>
                <a:spcPts val="800"/>
              </a:spcAft>
              <a:buFont typeface="Arial" pitchFamily="34" charset="0"/>
              <a:buChar char="•"/>
            </a:pPr>
            <a:r>
              <a:rPr sz="1350" b="0" i="0">
                <a:solidFill>
                  <a:srgbClr val="334155"/>
                </a:solidFill>
                <a:latin typeface="Segoe UI"/>
              </a:rPr>
              <a:t>Container numbers flow from jobs into customs documents.</a:t>
            </a:r>
          </a:p>
          <a:p>
            <a:pPr algn="l" marL="219456" indent="-219456">
              <a:spcAft>
                <a:spcPts val="800"/>
              </a:spcAft>
              <a:buFont typeface="Arial" pitchFamily="34" charset="0"/>
              <a:buChar char="•"/>
            </a:pPr>
            <a:r>
              <a:rPr sz="1350" b="0" i="0">
                <a:solidFill>
                  <a:srgbClr val="334155"/>
                </a:solidFill>
                <a:latin typeface="Segoe UI"/>
              </a:rPr>
              <a:t>Reuse numbers across import and export legs.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17536" y="4937759"/>
            <a:ext cx="361187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284C7"/>
                </a:solidFill>
                <a:latin typeface="Segoe UI"/>
              </a:rPr>
              <a:t>1 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17536" y="5440679"/>
            <a:ext cx="36118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Segoe UI"/>
              </a:rPr>
              <a:t>of every container, everywhere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284C7"/>
                </a:solidFill>
                <a:latin typeface="Segoe UI"/>
              </a:rPr>
              <a:t>ADVANCED MODULE  · 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9441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Segoe UI"/>
              </a:rPr>
              <a:t>Fleet management that keeps you compliant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44752"/>
            <a:ext cx="1143000" cy="457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6437376"/>
            <a:ext cx="11094415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Segoe UI"/>
              </a:rPr>
              <a:t>CargoFlow ERP  ·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14255" y="651052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Segoe UI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221991"/>
            <a:ext cx="6071616" cy="34198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0F172A"/>
                </a:solidFill>
                <a:latin typeface="Segoe UI"/>
              </a:rPr>
              <a:t>Assets you can trust, daily</a:t>
            </a:r>
          </a:p>
          <a:p>
            <a:pPr algn="l" marL="219456" indent="-219456">
              <a:spcAft>
                <a:spcPts val="1000"/>
              </a:spcAft>
              <a:buFont typeface="Arial" pitchFamily="34" charset="0"/>
              <a:buChar char="•"/>
            </a:pPr>
            <a:r>
              <a:rPr sz="1500" b="1" i="0">
                <a:solidFill>
                  <a:srgbClr val="334155"/>
                </a:solidFill>
                <a:latin typeface="Segoe UI"/>
              </a:rPr>
              <a:t>Trucks, trailers &amp; drivers — </a:t>
            </a:r>
            <a:r>
              <a:rPr sz="1500" b="0" i="0">
                <a:solidFill>
                  <a:srgbClr val="334155"/>
                </a:solidFill>
                <a:latin typeface="Segoe UI"/>
              </a:rPr>
              <a:t>Full registry with availability status per asset.</a:t>
            </a:r>
          </a:p>
          <a:p>
            <a:pPr algn="l" marL="219456" indent="-219456">
              <a:spcAft>
                <a:spcPts val="1000"/>
              </a:spcAft>
              <a:buFont typeface="Arial" pitchFamily="34" charset="0"/>
              <a:buChar char="•"/>
            </a:pPr>
            <a:r>
              <a:rPr sz="1500" b="1" i="0">
                <a:solidFill>
                  <a:srgbClr val="334155"/>
                </a:solidFill>
                <a:latin typeface="Segoe UI"/>
              </a:rPr>
              <a:t>Document expiry alerts — </a:t>
            </a:r>
            <a:r>
              <a:rPr sz="1500" b="0" i="0">
                <a:solidFill>
                  <a:srgbClr val="334155"/>
                </a:solidFill>
                <a:latin typeface="Segoe UI"/>
              </a:rPr>
              <a:t>Driver IC and licence expiries flagged 30 days out — avoid port fines.</a:t>
            </a:r>
          </a:p>
          <a:p>
            <a:pPr algn="l" marL="219456" indent="-219456">
              <a:spcAft>
                <a:spcPts val="1000"/>
              </a:spcAft>
              <a:buFont typeface="Arial" pitchFamily="34" charset="0"/>
              <a:buChar char="•"/>
            </a:pPr>
            <a:r>
              <a:rPr sz="1500" b="1" i="0">
                <a:solidFill>
                  <a:srgbClr val="334155"/>
                </a:solidFill>
                <a:latin typeface="Segoe UI"/>
              </a:rPr>
              <a:t>One-click assignment — </a:t>
            </a:r>
            <a:r>
              <a:rPr sz="1500" b="0" i="0">
                <a:solidFill>
                  <a:srgbClr val="334155"/>
                </a:solidFill>
                <a:latin typeface="Segoe UI"/>
              </a:rPr>
              <a:t>Assign internal equipment, or outsource to an approved vendor.</a:t>
            </a:r>
          </a:p>
          <a:p>
            <a:pPr algn="l" marL="219456" indent="-219456">
              <a:spcAft>
                <a:spcPts val="1000"/>
              </a:spcAft>
              <a:buFont typeface="Arial" pitchFamily="34" charset="0"/>
              <a:buChar char="•"/>
            </a:pPr>
            <a:r>
              <a:rPr sz="1500" b="1" i="0">
                <a:solidFill>
                  <a:srgbClr val="334155"/>
                </a:solidFill>
                <a:latin typeface="Segoe UI"/>
              </a:rPr>
              <a:t>Pickup scheduling — </a:t>
            </a:r>
            <a:r>
              <a:rPr sz="1500" b="0" i="0">
                <a:solidFill>
                  <a:srgbClr val="334155"/>
                </a:solidFill>
                <a:latin typeface="Segoe UI"/>
              </a:rPr>
              <a:t>Truck and schedule aligned to vessel ETA / ETD.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1965960"/>
            <a:ext cx="4233672" cy="3931920"/>
          </a:xfrm>
          <a:prstGeom prst="roundRect">
            <a:avLst>
              <a:gd name="adj" fmla="val 6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06640" y="1965960"/>
            <a:ext cx="82296" cy="39319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17536" y="2221991"/>
            <a:ext cx="36850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284C7"/>
                </a:solidFill>
                <a:latin typeface="Segoe UI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17536" y="2679191"/>
            <a:ext cx="3611879" cy="30632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 algn="l" marL="219456" indent="-219456">
              <a:spcAft>
                <a:spcPts val="800"/>
              </a:spcAft>
              <a:buFont typeface="Arial" pitchFamily="34" charset="0"/>
              <a:buChar char="•"/>
            </a:pPr>
            <a:r>
              <a:rPr sz="1350" b="0" i="0">
                <a:solidFill>
                  <a:srgbClr val="334155"/>
                </a:solidFill>
                <a:latin typeface="Segoe UI"/>
              </a:rPr>
              <a:t>Never miss a licence or ID expiry again.</a:t>
            </a:r>
          </a:p>
          <a:p>
            <a:pPr algn="l" marL="219456" indent="-219456">
              <a:spcAft>
                <a:spcPts val="800"/>
              </a:spcAft>
              <a:buFont typeface="Arial" pitchFamily="34" charset="0"/>
              <a:buChar char="•"/>
            </a:pPr>
            <a:r>
              <a:rPr sz="1350" b="0" i="0">
                <a:solidFill>
                  <a:srgbClr val="334155"/>
                </a:solidFill>
                <a:latin typeface="Segoe UI"/>
              </a:rPr>
              <a:t>Internal fleet and outsourced vendors live in the same workflow.</a:t>
            </a:r>
          </a:p>
          <a:p>
            <a:pPr algn="l" marL="219456" indent="-219456">
              <a:spcAft>
                <a:spcPts val="800"/>
              </a:spcAft>
              <a:buFont typeface="Arial" pitchFamily="34" charset="0"/>
              <a:buChar char="•"/>
            </a:pPr>
            <a:r>
              <a:rPr sz="1350" b="0" i="0">
                <a:solidFill>
                  <a:srgbClr val="334155"/>
                </a:solidFill>
                <a:latin typeface="Segoe UI"/>
              </a:rPr>
              <a:t>Assignments appear instantly in the job timeline.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17536" y="4937759"/>
            <a:ext cx="361187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284C7"/>
                </a:solidFill>
                <a:latin typeface="Segoe UI"/>
              </a:rPr>
              <a:t>30 days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17536" y="5440679"/>
            <a:ext cx="36118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Segoe UI"/>
              </a:rPr>
              <a:t>advance warning on document expiry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284C7"/>
                </a:solidFill>
                <a:latin typeface="Segoe UI"/>
              </a:rPr>
              <a:t>ADVANCED MODULE  · 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9441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Segoe UI"/>
              </a:rPr>
              <a:t>Finance &amp; profitability per shipment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44752"/>
            <a:ext cx="1143000" cy="457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6437376"/>
            <a:ext cx="11094415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Segoe UI"/>
              </a:rPr>
              <a:t>CargoFlow ERP  ·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14255" y="651052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Segoe U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221991"/>
            <a:ext cx="6071616" cy="34198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0F172A"/>
                </a:solidFill>
                <a:latin typeface="Segoe UI"/>
              </a:rPr>
              <a:t>Every dollar, accounted for</a:t>
            </a:r>
          </a:p>
          <a:p>
            <a:pPr algn="l" marL="219456" indent="-219456">
              <a:spcAft>
                <a:spcPts val="1000"/>
              </a:spcAft>
              <a:buFont typeface="Arial" pitchFamily="34" charset="0"/>
              <a:buChar char="•"/>
            </a:pPr>
            <a:r>
              <a:rPr sz="1500" b="1" i="0">
                <a:solidFill>
                  <a:srgbClr val="334155"/>
                </a:solidFill>
                <a:latin typeface="Segoe UI"/>
              </a:rPr>
              <a:t>Quotations — </a:t>
            </a:r>
            <a:r>
              <a:rPr sz="1500" b="0" i="0">
                <a:solidFill>
                  <a:srgbClr val="334155"/>
                </a:solidFill>
                <a:latin typeface="Segoe UI"/>
              </a:rPr>
              <a:t>Send quotes with line items; convert accepted quotes into invoices in one click.</a:t>
            </a:r>
          </a:p>
          <a:p>
            <a:pPr algn="l" marL="219456" indent="-219456">
              <a:spcAft>
                <a:spcPts val="1000"/>
              </a:spcAft>
              <a:buFont typeface="Arial" pitchFamily="34" charset="0"/>
              <a:buChar char="•"/>
            </a:pPr>
            <a:r>
              <a:rPr sz="1500" b="1" i="0">
                <a:solidFill>
                  <a:srgbClr val="334155"/>
                </a:solidFill>
                <a:latin typeface="Segoe UI"/>
              </a:rPr>
              <a:t>Vendor bills &amp; costs — </a:t>
            </a:r>
            <a:r>
              <a:rPr sz="1500" b="0" i="0">
                <a:solidFill>
                  <a:srgbClr val="334155"/>
                </a:solidFill>
                <a:latin typeface="Segoe UI"/>
              </a:rPr>
              <a:t>Capture vendor expenses and job costs against import or export jobs.</a:t>
            </a:r>
          </a:p>
          <a:p>
            <a:pPr algn="l" marL="219456" indent="-219456">
              <a:spcAft>
                <a:spcPts val="1000"/>
              </a:spcAft>
              <a:buFont typeface="Arial" pitchFamily="34" charset="0"/>
              <a:buChar char="•"/>
            </a:pPr>
            <a:r>
              <a:rPr sz="1500" b="1" i="0">
                <a:solidFill>
                  <a:srgbClr val="334155"/>
                </a:solidFill>
                <a:latin typeface="Segoe UI"/>
              </a:rPr>
              <a:t>Payments — </a:t>
            </a:r>
            <a:r>
              <a:rPr sz="1500" b="0" i="0">
                <a:solidFill>
                  <a:srgbClr val="334155"/>
                </a:solidFill>
                <a:latin typeface="Segoe UI"/>
              </a:rPr>
              <a:t>Record payments and watch invoice status roll from ISSUED → PARTIAL → PAID.</a:t>
            </a:r>
          </a:p>
          <a:p>
            <a:pPr algn="l" marL="219456" indent="-219456">
              <a:spcAft>
                <a:spcPts val="1000"/>
              </a:spcAft>
              <a:buFont typeface="Arial" pitchFamily="34" charset="0"/>
              <a:buChar char="•"/>
            </a:pPr>
            <a:r>
              <a:rPr sz="1500" b="1" i="0">
                <a:solidFill>
                  <a:srgbClr val="334155"/>
                </a:solidFill>
                <a:latin typeface="Segoe UI"/>
              </a:rPr>
              <a:t>Profitability — </a:t>
            </a:r>
            <a:r>
              <a:rPr sz="1500" b="0" i="0">
                <a:solidFill>
                  <a:srgbClr val="334155"/>
                </a:solidFill>
                <a:latin typeface="Segoe UI"/>
              </a:rPr>
              <a:t>Revenue minus costs, with margin per job.</a:t>
            </a:r>
          </a:p>
          <a:p>
            <a:pPr algn="l" marL="219456" indent="-219456">
              <a:spcAft>
                <a:spcPts val="1000"/>
              </a:spcAft>
              <a:buFont typeface="Arial" pitchFamily="34" charset="0"/>
              <a:buChar char="•"/>
            </a:pPr>
            <a:r>
              <a:rPr sz="1500" b="1" i="0">
                <a:solidFill>
                  <a:srgbClr val="334155"/>
                </a:solidFill>
                <a:latin typeface="Segoe UI"/>
              </a:rPr>
              <a:t>Analytics — </a:t>
            </a:r>
            <a:r>
              <a:rPr sz="1500" b="0" i="0">
                <a:solidFill>
                  <a:srgbClr val="334155"/>
                </a:solidFill>
                <a:latin typeface="Segoe UI"/>
              </a:rPr>
              <a:t>30-day KPIs and your top customers by profit.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1965960"/>
            <a:ext cx="4233672" cy="3931920"/>
          </a:xfrm>
          <a:prstGeom prst="roundRect">
            <a:avLst>
              <a:gd name="adj" fmla="val 6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06640" y="1965960"/>
            <a:ext cx="82296" cy="39319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17536" y="2221991"/>
            <a:ext cx="36850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284C7"/>
                </a:solidFill>
                <a:latin typeface="Segoe UI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17536" y="2679191"/>
            <a:ext cx="3611879" cy="30632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 algn="l" marL="219456" indent="-219456">
              <a:spcAft>
                <a:spcPts val="800"/>
              </a:spcAft>
              <a:buFont typeface="Arial" pitchFamily="34" charset="0"/>
              <a:buChar char="•"/>
            </a:pPr>
            <a:r>
              <a:rPr sz="1350" b="0" i="0">
                <a:solidFill>
                  <a:srgbClr val="334155"/>
                </a:solidFill>
                <a:latin typeface="Segoe UI"/>
              </a:rPr>
              <a:t>Know which shipments actually make money.</a:t>
            </a:r>
          </a:p>
          <a:p>
            <a:pPr algn="l" marL="219456" indent="-219456">
              <a:spcAft>
                <a:spcPts val="800"/>
              </a:spcAft>
              <a:buFont typeface="Arial" pitchFamily="34" charset="0"/>
              <a:buChar char="•"/>
            </a:pPr>
            <a:r>
              <a:rPr sz="1350" b="0" i="0">
                <a:solidFill>
                  <a:srgbClr val="334155"/>
                </a:solidFill>
                <a:latin typeface="Segoe UI"/>
              </a:rPr>
              <a:t>No more spreadsheet reconciliation between ops and accounts.</a:t>
            </a:r>
          </a:p>
          <a:p>
            <a:pPr algn="l" marL="219456" indent="-219456">
              <a:spcAft>
                <a:spcPts val="800"/>
              </a:spcAft>
              <a:buFont typeface="Arial" pitchFamily="34" charset="0"/>
              <a:buChar char="•"/>
            </a:pPr>
            <a:r>
              <a:rPr sz="1350" b="0" i="0">
                <a:solidFill>
                  <a:srgbClr val="334155"/>
                </a:solidFill>
                <a:latin typeface="Segoe UI"/>
              </a:rPr>
              <a:t>Quotations flow straight into billing.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17536" y="4937759"/>
            <a:ext cx="361187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284C7"/>
                </a:solidFill>
                <a:latin typeface="Segoe UI"/>
              </a:rPr>
              <a:t>Job-level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17536" y="5440679"/>
            <a:ext cx="36118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Segoe UI"/>
              </a:rPr>
              <a:t>profit &amp; margin on every shipment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284C7"/>
                </a:solidFill>
                <a:latin typeface="Segoe UI"/>
              </a:rPr>
              <a:t>ADVANCED MODULE  · 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9441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Segoe UI"/>
              </a:rPr>
              <a:t>Warehouse &amp; inventory, always in stock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44752"/>
            <a:ext cx="1143000" cy="457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6437376"/>
            <a:ext cx="11094415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Segoe UI"/>
              </a:rPr>
              <a:t>CargoFlow ERP  ·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14255" y="651052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Segoe UI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221991"/>
            <a:ext cx="6071616" cy="34198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0F172A"/>
                </a:solidFill>
                <a:latin typeface="Segoe UI"/>
              </a:rPr>
              <a:t>See stock before you promise it</a:t>
            </a:r>
          </a:p>
          <a:p>
            <a:pPr algn="l" marL="219456" indent="-219456">
              <a:spcAft>
                <a:spcPts val="1000"/>
              </a:spcAft>
              <a:buFont typeface="Arial" pitchFamily="34" charset="0"/>
              <a:buChar char="•"/>
            </a:pPr>
            <a:r>
              <a:rPr sz="1500" b="1" i="0">
                <a:solidFill>
                  <a:srgbClr val="334155"/>
                </a:solidFill>
                <a:latin typeface="Segoe UI"/>
              </a:rPr>
              <a:t>Multiple warehouses — </a:t>
            </a:r>
            <a:r>
              <a:rPr sz="1500" b="0" i="0">
                <a:solidFill>
                  <a:srgbClr val="334155"/>
                </a:solidFill>
                <a:latin typeface="Segoe UI"/>
              </a:rPr>
              <a:t>Track stock across every facility with unique warehouse codes.</a:t>
            </a:r>
          </a:p>
          <a:p>
            <a:pPr algn="l" marL="219456" indent="-219456">
              <a:spcAft>
                <a:spcPts val="1000"/>
              </a:spcAft>
              <a:buFont typeface="Arial" pitchFamily="34" charset="0"/>
              <a:buChar char="•"/>
            </a:pPr>
            <a:r>
              <a:rPr sz="1500" b="1" i="0">
                <a:solidFill>
                  <a:srgbClr val="334155"/>
                </a:solidFill>
                <a:latin typeface="Segoe UI"/>
              </a:rPr>
              <a:t>Stock items — </a:t>
            </a:r>
            <a:r>
              <a:rPr sz="1500" b="0" i="0">
                <a:solidFill>
                  <a:srgbClr val="334155"/>
                </a:solidFill>
                <a:latin typeface="Segoe UI"/>
              </a:rPr>
              <a:t>SKU, category, unit and min-stock thresholds per item.</a:t>
            </a:r>
          </a:p>
          <a:p>
            <a:pPr algn="l" marL="219456" indent="-219456">
              <a:spcAft>
                <a:spcPts val="1000"/>
              </a:spcAft>
              <a:buFont typeface="Arial" pitchFamily="34" charset="0"/>
              <a:buChar char="•"/>
            </a:pPr>
            <a:r>
              <a:rPr sz="1500" b="1" i="0">
                <a:solidFill>
                  <a:srgbClr val="334155"/>
                </a:solidFill>
                <a:latin typeface="Segoe UI"/>
              </a:rPr>
              <a:t>Auto status — </a:t>
            </a:r>
            <a:r>
              <a:rPr sz="1500" b="0" i="0">
                <a:solidFill>
                  <a:srgbClr val="334155"/>
                </a:solidFill>
                <a:latin typeface="Segoe UI"/>
              </a:rPr>
              <a:t>IN_STOCK / LOW_STOCK / OUT_OF_STOCK recomputed on every movement.</a:t>
            </a:r>
          </a:p>
          <a:p>
            <a:pPr algn="l" marL="219456" indent="-219456">
              <a:spcAft>
                <a:spcPts val="1000"/>
              </a:spcAft>
              <a:buFont typeface="Arial" pitchFamily="34" charset="0"/>
              <a:buChar char="•"/>
            </a:pPr>
            <a:r>
              <a:rPr sz="1500" b="1" i="0">
                <a:solidFill>
                  <a:srgbClr val="334155"/>
                </a:solidFill>
                <a:latin typeface="Segoe UI"/>
              </a:rPr>
              <a:t>Stock movements — </a:t>
            </a:r>
            <a:r>
              <a:rPr sz="1500" b="0" i="0">
                <a:solidFill>
                  <a:srgbClr val="334155"/>
                </a:solidFill>
                <a:latin typeface="Segoe UI"/>
              </a:rPr>
              <a:t>IN and OUT with reference to the source job; insufficient stock is rejected.</a:t>
            </a:r>
          </a:p>
          <a:p>
            <a:pPr algn="l" marL="219456" indent="-219456">
              <a:spcAft>
                <a:spcPts val="1000"/>
              </a:spcAft>
              <a:buFont typeface="Arial" pitchFamily="34" charset="0"/>
              <a:buChar char="•"/>
            </a:pPr>
            <a:r>
              <a:rPr sz="1500" b="1" i="0">
                <a:solidFill>
                  <a:srgbClr val="334155"/>
                </a:solidFill>
                <a:latin typeface="Segoe UI"/>
              </a:rPr>
              <a:t>Summary view — </a:t>
            </a:r>
            <a:r>
              <a:rPr sz="1500" b="0" i="0">
                <a:solidFill>
                  <a:srgbClr val="334155"/>
                </a:solidFill>
                <a:latin typeface="Segoe UI"/>
              </a:rPr>
              <a:t>Total items, quantities and low/out-of-stock counts at a glance.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1965960"/>
            <a:ext cx="4233672" cy="3931920"/>
          </a:xfrm>
          <a:prstGeom prst="roundRect">
            <a:avLst>
              <a:gd name="adj" fmla="val 6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06640" y="1965960"/>
            <a:ext cx="82296" cy="39319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17536" y="2221991"/>
            <a:ext cx="36850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284C7"/>
                </a:solidFill>
                <a:latin typeface="Segoe UI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17536" y="2679191"/>
            <a:ext cx="3611879" cy="30632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 algn="l" marL="219456" indent="-219456">
              <a:spcAft>
                <a:spcPts val="800"/>
              </a:spcAft>
              <a:buFont typeface="Arial" pitchFamily="34" charset="0"/>
              <a:buChar char="•"/>
            </a:pPr>
            <a:r>
              <a:rPr sz="1350" b="0" i="0">
                <a:solidFill>
                  <a:srgbClr val="334155"/>
                </a:solidFill>
                <a:latin typeface="Segoe UI"/>
              </a:rPr>
              <a:t>Know what's on hand before you quote a delivery.</a:t>
            </a:r>
          </a:p>
          <a:p>
            <a:pPr algn="l" marL="219456" indent="-219456">
              <a:spcAft>
                <a:spcPts val="800"/>
              </a:spcAft>
              <a:buFont typeface="Arial" pitchFamily="34" charset="0"/>
              <a:buChar char="•"/>
            </a:pPr>
            <a:r>
              <a:rPr sz="1350" b="0" i="0">
                <a:solidFill>
                  <a:srgbClr val="334155"/>
                </a:solidFill>
                <a:latin typeface="Segoe UI"/>
              </a:rPr>
              <a:t>Low-stock alerts trigger before customers do.</a:t>
            </a:r>
          </a:p>
          <a:p>
            <a:pPr algn="l" marL="219456" indent="-219456">
              <a:spcAft>
                <a:spcPts val="800"/>
              </a:spcAft>
              <a:buFont typeface="Arial" pitchFamily="34" charset="0"/>
              <a:buChar char="•"/>
            </a:pPr>
            <a:r>
              <a:rPr sz="1350" b="0" i="0">
                <a:solidFill>
                  <a:srgbClr val="334155"/>
                </a:solidFill>
                <a:latin typeface="Segoe UI"/>
              </a:rPr>
              <a:t>Movement history ties stock changes to shipments.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17536" y="4937759"/>
            <a:ext cx="361187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284C7"/>
                </a:solidFill>
                <a:latin typeface="Segoe UI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17536" y="5440679"/>
            <a:ext cx="36118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Segoe UI"/>
              </a:rPr>
              <a:t>surprises on warehouse shelves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284C7"/>
                </a:solidFill>
                <a:latin typeface="Segoe UI"/>
              </a:rPr>
              <a:t>ADVANCED MODULE  · 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9441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Segoe UI"/>
              </a:rPr>
              <a:t>Export documents, generated in minutes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44752"/>
            <a:ext cx="1143000" cy="457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6437376"/>
            <a:ext cx="11094415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Segoe UI"/>
              </a:rPr>
              <a:t>CargoFlow ERP  ·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14255" y="651052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Segoe UI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221991"/>
            <a:ext cx="6071616" cy="34198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0F172A"/>
                </a:solidFill>
                <a:latin typeface="Segoe UI"/>
              </a:rPr>
              <a:t>From shipment to signed paperwork</a:t>
            </a:r>
          </a:p>
          <a:p>
            <a:pPr algn="l" marL="219456" indent="-219456">
              <a:spcAft>
                <a:spcPts val="1000"/>
              </a:spcAft>
              <a:buFont typeface="Arial" pitchFamily="34" charset="0"/>
              <a:buChar char="•"/>
            </a:pPr>
            <a:r>
              <a:rPr sz="1500" b="1" i="0">
                <a:solidFill>
                  <a:srgbClr val="334155"/>
                </a:solidFill>
                <a:latin typeface="Segoe UI"/>
              </a:rPr>
              <a:t>Commercial invoices — </a:t>
            </a:r>
            <a:r>
              <a:rPr sz="1500" b="0" i="0">
                <a:solidFill>
                  <a:srgbClr val="334155"/>
                </a:solidFill>
                <a:latin typeface="Segoe UI"/>
              </a:rPr>
              <a:t>Line items with HS codes, auto-calculated totals per export job.</a:t>
            </a:r>
          </a:p>
          <a:p>
            <a:pPr algn="l" marL="219456" indent="-219456">
              <a:spcAft>
                <a:spcPts val="1000"/>
              </a:spcAft>
              <a:buFont typeface="Arial" pitchFamily="34" charset="0"/>
              <a:buChar char="•"/>
            </a:pPr>
            <a:r>
              <a:rPr sz="1500" b="1" i="0">
                <a:solidFill>
                  <a:srgbClr val="334155"/>
                </a:solidFill>
                <a:latin typeface="Segoe UI"/>
              </a:rPr>
              <a:t>Packing lists — </a:t>
            </a:r>
            <a:r>
              <a:rPr sz="1500" b="0" i="0">
                <a:solidFill>
                  <a:srgbClr val="334155"/>
                </a:solidFill>
                <a:latin typeface="Segoe UI"/>
              </a:rPr>
              <a:t>Quantity, units, gross/net weight, dimensions and marks per line.</a:t>
            </a:r>
          </a:p>
          <a:p>
            <a:pPr algn="l" marL="219456" indent="-219456">
              <a:spcAft>
                <a:spcPts val="1000"/>
              </a:spcAft>
              <a:buFont typeface="Arial" pitchFamily="34" charset="0"/>
              <a:buChar char="•"/>
            </a:pPr>
            <a:r>
              <a:rPr sz="1500" b="1" i="0">
                <a:solidFill>
                  <a:srgbClr val="334155"/>
                </a:solidFill>
                <a:latin typeface="Segoe UI"/>
              </a:rPr>
              <a:t>Auto-filled parties — </a:t>
            </a:r>
            <a:r>
              <a:rPr sz="1500" b="0" i="0">
                <a:solidFill>
                  <a:srgbClr val="334155"/>
                </a:solidFill>
                <a:latin typeface="Segoe UI"/>
              </a:rPr>
              <a:t>Shipper and consignee pulled from the linked export job.</a:t>
            </a:r>
          </a:p>
          <a:p>
            <a:pPr algn="l" marL="219456" indent="-219456">
              <a:spcAft>
                <a:spcPts val="1000"/>
              </a:spcAft>
              <a:buFont typeface="Arial" pitchFamily="34" charset="0"/>
              <a:buChar char="•"/>
            </a:pPr>
            <a:r>
              <a:rPr sz="1500" b="1" i="0">
                <a:solidFill>
                  <a:srgbClr val="334155"/>
                </a:solidFill>
                <a:latin typeface="Segoe UI"/>
              </a:rPr>
              <a:t>One per job — </a:t>
            </a:r>
            <a:r>
              <a:rPr sz="1500" b="0" i="0">
                <a:solidFill>
                  <a:srgbClr val="334155"/>
                </a:solidFill>
                <a:latin typeface="Segoe UI"/>
              </a:rPr>
              <a:t>Each export shipment has a clean, versioned commercial invoice + packing list.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1965960"/>
            <a:ext cx="4233672" cy="3931920"/>
          </a:xfrm>
          <a:prstGeom prst="roundRect">
            <a:avLst>
              <a:gd name="adj" fmla="val 6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06640" y="1965960"/>
            <a:ext cx="82296" cy="39319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17536" y="2221991"/>
            <a:ext cx="36850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284C7"/>
                </a:solidFill>
                <a:latin typeface="Segoe UI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17536" y="2679191"/>
            <a:ext cx="3611879" cy="30632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 algn="l" marL="219456" indent="-219456">
              <a:spcAft>
                <a:spcPts val="800"/>
              </a:spcAft>
              <a:buFont typeface="Arial" pitchFamily="34" charset="0"/>
              <a:buChar char="•"/>
            </a:pPr>
            <a:r>
              <a:rPr sz="1350" b="0" i="0">
                <a:solidFill>
                  <a:srgbClr val="334155"/>
                </a:solidFill>
                <a:latin typeface="Segoe UI"/>
              </a:rPr>
              <a:t>Stop retyping invoices and packing lists.</a:t>
            </a:r>
          </a:p>
          <a:p>
            <a:pPr algn="l" marL="219456" indent="-219456">
              <a:spcAft>
                <a:spcPts val="800"/>
              </a:spcAft>
              <a:buFont typeface="Arial" pitchFamily="34" charset="0"/>
              <a:buChar char="•"/>
            </a:pPr>
            <a:r>
              <a:rPr sz="1350" b="0" i="0">
                <a:solidFill>
                  <a:srgbClr val="334155"/>
                </a:solidFill>
                <a:latin typeface="Segoe UI"/>
              </a:rPr>
              <a:t>HS-coded lines are audit-ready for customs.</a:t>
            </a:r>
          </a:p>
          <a:p>
            <a:pPr algn="l" marL="219456" indent="-219456">
              <a:spcAft>
                <a:spcPts val="800"/>
              </a:spcAft>
              <a:buFont typeface="Arial" pitchFamily="34" charset="0"/>
              <a:buChar char="•"/>
            </a:pPr>
            <a:r>
              <a:rPr sz="1350" b="0" i="0">
                <a:solidFill>
                  <a:srgbClr val="334155"/>
                </a:solidFill>
                <a:latin typeface="Segoe UI"/>
              </a:rPr>
              <a:t>Parties stay consistent with the job record.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17536" y="4937759"/>
            <a:ext cx="361187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284C7"/>
                </a:solidFill>
                <a:latin typeface="Segoe UI"/>
              </a:rPr>
              <a:t>1 click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17536" y="5440679"/>
            <a:ext cx="36118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Segoe UI"/>
              </a:rPr>
              <a:t>to regenerate a compliant export doc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284C7"/>
                </a:solidFill>
                <a:latin typeface="Segoe UI"/>
              </a:rPr>
              <a:t>BUILT-IN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9441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Segoe UI"/>
              </a:rPr>
              <a:t>Your AI copilot for logistics operations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44752"/>
            <a:ext cx="1143000" cy="457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9441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Segoe UI"/>
              </a:rPr>
              <a:t>A private, self-hosted AI that lives with your data — no external APIs.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37376"/>
            <a:ext cx="11094415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Segoe UI"/>
              </a:rPr>
              <a:t>CargoFlow ERP  ·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14255" y="651052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Segoe UI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404872"/>
            <a:ext cx="6071616" cy="3511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0F172A"/>
                </a:solidFill>
                <a:latin typeface="Segoe UI"/>
              </a:rPr>
              <a:t>What the copilot does</a:t>
            </a:r>
          </a:p>
          <a:p>
            <a:pPr algn="l" marL="219456" indent="-219456">
              <a:spcAft>
                <a:spcPts val="1000"/>
              </a:spcAft>
              <a:buFont typeface="Arial" pitchFamily="34" charset="0"/>
              <a:buChar char="•"/>
            </a:pPr>
            <a:r>
              <a:rPr sz="1500" b="1" i="0">
                <a:solidFill>
                  <a:srgbClr val="334155"/>
                </a:solidFill>
                <a:latin typeface="Segoe UI"/>
              </a:rPr>
              <a:t>Natural-language chat — </a:t>
            </a:r>
            <a:r>
              <a:rPr sz="1500" b="0" i="0">
                <a:solidFill>
                  <a:srgbClr val="334155"/>
                </a:solidFill>
                <a:latin typeface="Segoe UI"/>
              </a:rPr>
              <a:t>Ask questions about live operations in plain language — even offline.</a:t>
            </a:r>
          </a:p>
          <a:p>
            <a:pPr algn="l" marL="219456" indent="-219456">
              <a:spcAft>
                <a:spcPts val="1000"/>
              </a:spcAft>
              <a:buFont typeface="Arial" pitchFamily="34" charset="0"/>
              <a:buChar char="•"/>
            </a:pPr>
            <a:r>
              <a:rPr sz="1500" b="1" i="0">
                <a:solidFill>
                  <a:srgbClr val="334155"/>
                </a:solidFill>
                <a:latin typeface="Segoe UI"/>
              </a:rPr>
              <a:t>Document OCR — </a:t>
            </a:r>
            <a:r>
              <a:rPr sz="1500" b="0" i="0">
                <a:solidFill>
                  <a:srgbClr val="334155"/>
                </a:solidFill>
                <a:latin typeface="Segoe UI"/>
              </a:rPr>
              <a:t>Upload a BL or PDF; the vision model extracts fields you can apply to a job.</a:t>
            </a:r>
          </a:p>
          <a:p>
            <a:pPr algn="l" marL="219456" indent="-219456">
              <a:spcAft>
                <a:spcPts val="1000"/>
              </a:spcAft>
              <a:buFont typeface="Arial" pitchFamily="34" charset="0"/>
              <a:buChar char="•"/>
            </a:pPr>
            <a:r>
              <a:rPr sz="1500" b="1" i="0">
                <a:solidFill>
                  <a:srgbClr val="334155"/>
                </a:solidFill>
                <a:latin typeface="Segoe UI"/>
              </a:rPr>
              <a:t>Delay &amp; ETA prediction — </a:t>
            </a:r>
            <a:r>
              <a:rPr sz="1500" b="0" i="0">
                <a:solidFill>
                  <a:srgbClr val="334155"/>
                </a:solidFill>
                <a:latin typeface="Segoe UI"/>
              </a:rPr>
              <a:t>Historical patterns produce arrival/departure forecasts with risk scores.</a:t>
            </a:r>
          </a:p>
          <a:p>
            <a:pPr algn="l" marL="219456" indent="-219456">
              <a:spcAft>
                <a:spcPts val="1000"/>
              </a:spcAft>
              <a:buFont typeface="Arial" pitchFamily="34" charset="0"/>
              <a:buChar char="•"/>
            </a:pPr>
            <a:r>
              <a:rPr sz="1500" b="1" i="0">
                <a:solidFill>
                  <a:srgbClr val="334155"/>
                </a:solidFill>
                <a:latin typeface="Segoe UI"/>
              </a:rPr>
              <a:t>Weekly AI reports — </a:t>
            </a:r>
            <a:r>
              <a:rPr sz="1500" b="0" i="0">
                <a:solidFill>
                  <a:srgbClr val="334155"/>
                </a:solidFill>
                <a:latin typeface="Segoe UI"/>
              </a:rPr>
              <a:t>Auto-generated narrative: new jobs, revenue, bottlenecks and recommendations.</a:t>
            </a:r>
          </a:p>
          <a:p>
            <a:pPr algn="l" marL="219456" indent="-219456">
              <a:spcAft>
                <a:spcPts val="1000"/>
              </a:spcAft>
              <a:buFont typeface="Arial" pitchFamily="34" charset="0"/>
              <a:buChar char="•"/>
            </a:pPr>
            <a:r>
              <a:rPr sz="1500" b="1" i="0">
                <a:solidFill>
                  <a:srgbClr val="334155"/>
                </a:solidFill>
                <a:latin typeface="Segoe UI"/>
              </a:rPr>
              <a:t>Smart job assist — </a:t>
            </a:r>
            <a:r>
              <a:rPr sz="1500" b="0" i="0">
                <a:solidFill>
                  <a:srgbClr val="334155"/>
                </a:solidFill>
                <a:latin typeface="Segoe UI"/>
              </a:rPr>
              <a:t>Next-step hints, stuck-job and missed-ETA anomaly detection.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2148840"/>
            <a:ext cx="4233672" cy="4023360"/>
          </a:xfrm>
          <a:prstGeom prst="roundRect">
            <a:avLst>
              <a:gd name="adj" fmla="val 6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06640" y="2148840"/>
            <a:ext cx="82296" cy="402336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17536" y="2404872"/>
            <a:ext cx="36850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284C7"/>
                </a:solidFill>
                <a:latin typeface="Segoe UI"/>
              </a:rPr>
              <a:t>Built for your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17536" y="2862072"/>
            <a:ext cx="3611879" cy="3154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 algn="l" marL="219456" indent="-219456">
              <a:spcAft>
                <a:spcPts val="800"/>
              </a:spcAft>
              <a:buFont typeface="Arial" pitchFamily="34" charset="0"/>
              <a:buChar char="•"/>
            </a:pPr>
            <a:r>
              <a:rPr sz="1350" b="0" i="0">
                <a:solidFill>
                  <a:srgbClr val="334155"/>
                </a:solidFill>
                <a:latin typeface="Segoe UI"/>
              </a:rPr>
              <a:t>Runs 100% on your own infrastructure.</a:t>
            </a:r>
          </a:p>
          <a:p>
            <a:pPr algn="l" marL="219456" indent="-219456">
              <a:spcAft>
                <a:spcPts val="800"/>
              </a:spcAft>
              <a:buFont typeface="Arial" pitchFamily="34" charset="0"/>
              <a:buChar char="•"/>
            </a:pPr>
            <a:r>
              <a:rPr sz="1350" b="0" i="0">
                <a:solidFill>
                  <a:srgbClr val="334155"/>
                </a:solidFill>
                <a:latin typeface="Segoe UI"/>
              </a:rPr>
              <a:t>All inference is local — data never leaves your network.</a:t>
            </a:r>
          </a:p>
          <a:p>
            <a:pPr algn="l" marL="219456" indent="-219456">
              <a:spcAft>
                <a:spcPts val="800"/>
              </a:spcAft>
              <a:buFont typeface="Arial" pitchFamily="34" charset="0"/>
              <a:buChar char="•"/>
            </a:pPr>
            <a:r>
              <a:rPr sz="1350" b="0" i="0">
                <a:solidFill>
                  <a:srgbClr val="334155"/>
                </a:solidFill>
                <a:latin typeface="Segoe UI"/>
              </a:rPr>
              <a:t>Degrades gracefully to rule-based mode when the model is offline.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17536" y="5212080"/>
            <a:ext cx="361187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284C7"/>
                </a:solidFill>
                <a:latin typeface="Segoe UI"/>
              </a:rPr>
              <a:t>Offline-safe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17536" y="5715000"/>
            <a:ext cx="36118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Segoe UI"/>
              </a:rPr>
              <a:t>every AI feature has a fallback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284C7"/>
                </a:solidFill>
                <a:latin typeface="Segoe UI"/>
              </a:rPr>
              <a:t>TRUST &amp;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9441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Segoe UI"/>
              </a:rPr>
              <a:t>Security, roles and deployment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44752"/>
            <a:ext cx="1143000" cy="457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6437376"/>
            <a:ext cx="11094415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Segoe UI"/>
              </a:rPr>
              <a:t>CargoFlow ERP  ·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14255" y="651052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Segoe UI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221991"/>
            <a:ext cx="6071616" cy="34198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0F172A"/>
                </a:solidFill>
                <a:latin typeface="Segoe UI"/>
              </a:rPr>
              <a:t>Your data, your rules</a:t>
            </a:r>
          </a:p>
          <a:p>
            <a:pPr algn="l" marL="219456" indent="-219456">
              <a:spcAft>
                <a:spcPts val="1000"/>
              </a:spcAft>
              <a:buFont typeface="Arial" pitchFamily="34" charset="0"/>
              <a:buChar char="•"/>
            </a:pPr>
            <a:r>
              <a:rPr sz="1500" b="1" i="0">
                <a:solidFill>
                  <a:srgbClr val="334155"/>
                </a:solidFill>
                <a:latin typeface="Segoe UI"/>
              </a:rPr>
              <a:t>Self-hosted — </a:t>
            </a:r>
            <a:r>
              <a:rPr sz="1500" b="0" i="0">
                <a:solidFill>
                  <a:srgbClr val="334155"/>
                </a:solidFill>
                <a:latin typeface="Segoe UI"/>
              </a:rPr>
              <a:t>Deploy in your environment, private cloud or on-premise.</a:t>
            </a:r>
          </a:p>
          <a:p>
            <a:pPr algn="l" marL="219456" indent="-219456">
              <a:spcAft>
                <a:spcPts val="1000"/>
              </a:spcAft>
              <a:buFont typeface="Arial" pitchFamily="34" charset="0"/>
              <a:buChar char="•"/>
            </a:pPr>
            <a:r>
              <a:rPr sz="1500" b="1" i="0">
                <a:solidFill>
                  <a:srgbClr val="334155"/>
                </a:solidFill>
                <a:latin typeface="Segoe UI"/>
              </a:rPr>
              <a:t>JWT security — </a:t>
            </a:r>
            <a:r>
              <a:rPr sz="1500" b="0" i="0">
                <a:solidFill>
                  <a:srgbClr val="334155"/>
                </a:solidFill>
                <a:latin typeface="Segoe UI"/>
              </a:rPr>
              <a:t>Token-based auth with admin, manager and staff roles.</a:t>
            </a:r>
          </a:p>
          <a:p>
            <a:pPr algn="l" marL="219456" indent="-219456">
              <a:spcAft>
                <a:spcPts val="1000"/>
              </a:spcAft>
              <a:buFont typeface="Arial" pitchFamily="34" charset="0"/>
              <a:buChar char="•"/>
            </a:pPr>
            <a:r>
              <a:rPr sz="1500" b="1" i="0">
                <a:solidFill>
                  <a:srgbClr val="334155"/>
                </a:solidFill>
                <a:latin typeface="Segoe UI"/>
              </a:rPr>
              <a:t>Role-gated actions — </a:t>
            </a:r>
            <a:r>
              <a:rPr sz="1500" b="0" i="0">
                <a:solidFill>
                  <a:srgbClr val="334155"/>
                </a:solidFill>
                <a:latin typeface="Segoe UI"/>
              </a:rPr>
              <a:t>Approvals and destructive actions are restricted by role.</a:t>
            </a:r>
          </a:p>
          <a:p>
            <a:pPr algn="l" marL="219456" indent="-219456">
              <a:spcAft>
                <a:spcPts val="1000"/>
              </a:spcAft>
              <a:buFont typeface="Arial" pitchFamily="34" charset="0"/>
              <a:buChar char="•"/>
            </a:pPr>
            <a:r>
              <a:rPr sz="1500" b="1" i="0">
                <a:solidFill>
                  <a:srgbClr val="334155"/>
                </a:solidFill>
                <a:latin typeface="Segoe UI"/>
              </a:rPr>
              <a:t>Plan-based access — </a:t>
            </a:r>
            <a:r>
              <a:rPr sz="1500" b="0" i="0">
                <a:solidFill>
                  <a:srgbClr val="334155"/>
                </a:solidFill>
                <a:latin typeface="Segoe UI"/>
              </a:rPr>
              <a:t>Starter, Business and Enterprise modules are enforced server-side.</a:t>
            </a:r>
          </a:p>
          <a:p>
            <a:pPr algn="l" marL="219456" indent="-219456">
              <a:spcAft>
                <a:spcPts val="1000"/>
              </a:spcAft>
              <a:buFont typeface="Arial" pitchFamily="34" charset="0"/>
              <a:buChar char="•"/>
            </a:pPr>
            <a:r>
              <a:rPr sz="1500" b="1" i="0">
                <a:solidFill>
                  <a:srgbClr val="334155"/>
                </a:solidFill>
                <a:latin typeface="Segoe UI"/>
              </a:rPr>
              <a:t>Trilingual — </a:t>
            </a:r>
            <a:r>
              <a:rPr sz="1500" b="0" i="0">
                <a:solidFill>
                  <a:srgbClr val="334155"/>
                </a:solidFill>
                <a:latin typeface="Segoe UI"/>
              </a:rPr>
              <a:t>English, Khmer and Chinese interfaces for your whole team.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1965960"/>
            <a:ext cx="4233672" cy="3931920"/>
          </a:xfrm>
          <a:prstGeom prst="roundRect">
            <a:avLst>
              <a:gd name="adj" fmla="val 6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06640" y="1965960"/>
            <a:ext cx="82296" cy="39319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17536" y="2221991"/>
            <a:ext cx="36850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284C7"/>
                </a:solidFill>
                <a:latin typeface="Segoe UI"/>
              </a:rPr>
              <a:t>Compliance-ready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17536" y="2679191"/>
            <a:ext cx="3611879" cy="30632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 algn="l" marL="219456" indent="-219456">
              <a:spcAft>
                <a:spcPts val="800"/>
              </a:spcAft>
              <a:buFont typeface="Arial" pitchFamily="34" charset="0"/>
              <a:buChar char="•"/>
            </a:pPr>
            <a:r>
              <a:rPr sz="1350" b="0" i="0">
                <a:solidFill>
                  <a:srgbClr val="334155"/>
                </a:solidFill>
                <a:latin typeface="Segoe UI"/>
              </a:rPr>
              <a:t>Data residency: everything stays inside your network.</a:t>
            </a:r>
          </a:p>
          <a:p>
            <a:pPr algn="l" marL="219456" indent="-219456">
              <a:spcAft>
                <a:spcPts val="800"/>
              </a:spcAft>
              <a:buFont typeface="Arial" pitchFamily="34" charset="0"/>
              <a:buChar char="•"/>
            </a:pPr>
            <a:r>
              <a:rPr sz="1350" b="0" i="0">
                <a:solidFill>
                  <a:srgbClr val="334155"/>
                </a:solidFill>
                <a:latin typeface="Segoe UI"/>
              </a:rPr>
              <a:t>Audit-friendly activity logs on every job and document.</a:t>
            </a:r>
          </a:p>
          <a:p>
            <a:pPr algn="l" marL="219456" indent="-219456">
              <a:spcAft>
                <a:spcPts val="800"/>
              </a:spcAft>
              <a:buFont typeface="Arial" pitchFamily="34" charset="0"/>
              <a:buChar char="•"/>
            </a:pPr>
            <a:r>
              <a:rPr sz="1350" b="0" i="0">
                <a:solidFill>
                  <a:srgbClr val="334155"/>
                </a:solidFill>
                <a:latin typeface="Segoe UI"/>
              </a:rPr>
              <a:t>No third-party AI vendors touching your shipments.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17536" y="4937759"/>
            <a:ext cx="361187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284C7"/>
                </a:solidFill>
                <a:latin typeface="Segoe UI"/>
              </a:rPr>
              <a:t>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17536" y="5440679"/>
            <a:ext cx="36118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Segoe UI"/>
              </a:rPr>
              <a:t>data stays within your infrastructure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284C7"/>
                </a:solidFill>
                <a:latin typeface="Segoe UI"/>
              </a:rPr>
              <a:t>PLANS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9441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Segoe UI"/>
              </a:rPr>
              <a:t>Simple plans that scale with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44752"/>
            <a:ext cx="1143000" cy="457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9441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Segoe UI"/>
              </a:rPr>
              <a:t>14-day free trial on every plan — no credit card required.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37376"/>
            <a:ext cx="11094415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Segoe UI"/>
              </a:rPr>
              <a:t>CargoFlow ERP  ·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14255" y="651052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Segoe UI"/>
              </a:rPr>
              <a:t>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286000"/>
            <a:ext cx="3484778" cy="39776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260604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  <a:latin typeface="Segoe UI"/>
              </a:rPr>
              <a:t>Starter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971800"/>
            <a:ext cx="293613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0284C7"/>
                </a:solidFill>
                <a:latin typeface="Segoe UI"/>
              </a:rPr>
              <a:t>$99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584448"/>
            <a:ext cx="293613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Segoe UI"/>
              </a:rPr>
              <a:t>/month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3977639"/>
            <a:ext cx="2936138" cy="20573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 algn="l" marL="182880" indent="-182880">
              <a:spcAft>
                <a:spcPts val="700"/>
              </a:spcAft>
              <a:buFont typeface="Arial" pitchFamily="34" charset="0"/>
              <a:buChar char="•"/>
            </a:pPr>
            <a:r>
              <a:rPr sz="1250" b="0" i="0">
                <a:solidFill>
                  <a:srgbClr val="334155"/>
                </a:solidFill>
                <a:latin typeface="Segoe UI"/>
              </a:rPr>
              <a:t>Up to 5 users</a:t>
            </a:r>
          </a:p>
          <a:p>
            <a:pPr algn="l" marL="182880" indent="-182880">
              <a:spcAft>
                <a:spcPts val="700"/>
              </a:spcAft>
              <a:buFont typeface="Arial" pitchFamily="34" charset="0"/>
              <a:buChar char="•"/>
            </a:pPr>
            <a:r>
              <a:rPr sz="1250" b="0" i="0">
                <a:solidFill>
                  <a:srgbClr val="334155"/>
                </a:solidFill>
                <a:latin typeface="Segoe UI"/>
              </a:rPr>
              <a:t>Import &amp; export workflows</a:t>
            </a:r>
          </a:p>
          <a:p>
            <a:pPr algn="l" marL="182880" indent="-182880">
              <a:spcAft>
                <a:spcPts val="700"/>
              </a:spcAft>
              <a:buFont typeface="Arial" pitchFamily="34" charset="0"/>
              <a:buChar char="•"/>
            </a:pPr>
            <a:r>
              <a:rPr sz="1250" b="0" i="0">
                <a:solidFill>
                  <a:srgbClr val="334155"/>
                </a:solidFill>
                <a:latin typeface="Segoe UI"/>
              </a:rPr>
              <a:t>Fleet management</a:t>
            </a:r>
          </a:p>
          <a:p>
            <a:pPr algn="l" marL="182880" indent="-182880">
              <a:spcAft>
                <a:spcPts val="700"/>
              </a:spcAft>
              <a:buFont typeface="Arial" pitchFamily="34" charset="0"/>
              <a:buChar char="•"/>
            </a:pPr>
            <a:r>
              <a:rPr sz="1250" b="0" i="0">
                <a:solidFill>
                  <a:srgbClr val="334155"/>
                </a:solidFill>
                <a:latin typeface="Segoe UI"/>
              </a:rPr>
              <a:t>Master data (customers, vendors)</a:t>
            </a:r>
          </a:p>
          <a:p>
            <a:pPr algn="l" marL="182880" indent="-182880">
              <a:spcAft>
                <a:spcPts val="700"/>
              </a:spcAft>
              <a:buFont typeface="Arial" pitchFamily="34" charset="0"/>
              <a:buChar char="•"/>
            </a:pPr>
            <a:r>
              <a:rPr sz="1250" b="0" i="0">
                <a:solidFill>
                  <a:srgbClr val="334155"/>
                </a:solidFill>
                <a:latin typeface="Segoe UI"/>
              </a:rPr>
              <a:t>Email support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53458" y="2286000"/>
            <a:ext cx="3484778" cy="39776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175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53458" y="2029967"/>
            <a:ext cx="3484778" cy="457200"/>
          </a:xfrm>
          <a:prstGeom prst="roundRect">
            <a:avLst>
              <a:gd name="adj" fmla="val 3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MOST POPULAR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7778" y="260604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  <a:latin typeface="Segoe UI"/>
              </a:rPr>
              <a:t>Business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27778" y="2971800"/>
            <a:ext cx="293613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0284C7"/>
                </a:solidFill>
                <a:latin typeface="Segoe UI"/>
              </a:rPr>
              <a:t>$249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27778" y="3584448"/>
            <a:ext cx="293613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Segoe UI"/>
              </a:rPr>
              <a:t>/month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27778" y="3977639"/>
            <a:ext cx="2936138" cy="20573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 algn="l" marL="182880" indent="-182880">
              <a:spcAft>
                <a:spcPts val="700"/>
              </a:spcAft>
              <a:buFont typeface="Arial" pitchFamily="34" charset="0"/>
              <a:buChar char="•"/>
            </a:pPr>
            <a:r>
              <a:rPr sz="1250" b="0" i="0">
                <a:solidFill>
                  <a:srgbClr val="334155"/>
                </a:solidFill>
                <a:latin typeface="Segoe UI"/>
              </a:rPr>
              <a:t>Up to 25 users</a:t>
            </a:r>
          </a:p>
          <a:p>
            <a:pPr algn="l" marL="182880" indent="-182880">
              <a:spcAft>
                <a:spcPts val="700"/>
              </a:spcAft>
              <a:buFont typeface="Arial" pitchFamily="34" charset="0"/>
              <a:buChar char="•"/>
            </a:pPr>
            <a:r>
              <a:rPr sz="1250" b="0" i="0">
                <a:solidFill>
                  <a:srgbClr val="334155"/>
                </a:solidFill>
                <a:latin typeface="Segoe UI"/>
              </a:rPr>
              <a:t>Everything in Starter</a:t>
            </a:r>
          </a:p>
          <a:p>
            <a:pPr algn="l" marL="182880" indent="-182880">
              <a:spcAft>
                <a:spcPts val="700"/>
              </a:spcAft>
              <a:buFont typeface="Arial" pitchFamily="34" charset="0"/>
              <a:buChar char="•"/>
            </a:pPr>
            <a:r>
              <a:rPr sz="1250" b="0" i="0">
                <a:solidFill>
                  <a:srgbClr val="334155"/>
                </a:solidFill>
                <a:latin typeface="Segoe UI"/>
              </a:rPr>
              <a:t>Invoicing, quotations &amp; vendor bills</a:t>
            </a:r>
          </a:p>
          <a:p>
            <a:pPr algn="l" marL="182880" indent="-182880">
              <a:spcAft>
                <a:spcPts val="700"/>
              </a:spcAft>
              <a:buFont typeface="Arial" pitchFamily="34" charset="0"/>
              <a:buChar char="•"/>
            </a:pPr>
            <a:r>
              <a:rPr sz="1250" b="0" i="0">
                <a:solidFill>
                  <a:srgbClr val="334155"/>
                </a:solidFill>
                <a:latin typeface="Segoe UI"/>
              </a:rPr>
              <a:t>Documents, templates &amp; export docs</a:t>
            </a:r>
          </a:p>
          <a:p>
            <a:pPr algn="l" marL="182880" indent="-182880">
              <a:spcAft>
                <a:spcPts val="700"/>
              </a:spcAft>
              <a:buFont typeface="Arial" pitchFamily="34" charset="0"/>
              <a:buChar char="•"/>
            </a:pPr>
            <a:r>
              <a:rPr sz="1250" b="0" i="0">
                <a:solidFill>
                  <a:srgbClr val="334155"/>
                </a:solidFill>
                <a:latin typeface="Segoe UI"/>
              </a:rPr>
              <a:t>Finance analytics &amp; profitability</a:t>
            </a:r>
          </a:p>
          <a:p>
            <a:pPr algn="l" marL="182880" indent="-182880">
              <a:spcAft>
                <a:spcPts val="700"/>
              </a:spcAft>
              <a:buFont typeface="Arial" pitchFamily="34" charset="0"/>
              <a:buChar char="•"/>
            </a:pPr>
            <a:r>
              <a:rPr sz="1250" b="0" i="0">
                <a:solidFill>
                  <a:srgbClr val="334155"/>
                </a:solidFill>
                <a:latin typeface="Segoe UI"/>
              </a:rPr>
              <a:t>Containers, air freight &amp; warehouse</a:t>
            </a:r>
          </a:p>
          <a:p>
            <a:pPr algn="l" marL="182880" indent="-182880">
              <a:spcAft>
                <a:spcPts val="700"/>
              </a:spcAft>
              <a:buFont typeface="Arial" pitchFamily="34" charset="0"/>
              <a:buChar char="•"/>
            </a:pPr>
            <a:r>
              <a:rPr sz="1250" b="0" i="0">
                <a:solidFill>
                  <a:srgbClr val="334155"/>
                </a:solidFill>
                <a:latin typeface="Segoe UI"/>
              </a:rPr>
              <a:t>AI assistant, reports &amp; predictions</a:t>
            </a:r>
          </a:p>
          <a:p>
            <a:pPr algn="l" marL="182880" indent="-182880">
              <a:spcAft>
                <a:spcPts val="700"/>
              </a:spcAft>
              <a:buFont typeface="Arial" pitchFamily="34" charset="0"/>
              <a:buChar char="•"/>
            </a:pPr>
            <a:r>
              <a:rPr sz="1250" b="0" i="0">
                <a:solidFill>
                  <a:srgbClr val="334155"/>
                </a:solidFill>
                <a:latin typeface="Segoe UI"/>
              </a:rPr>
              <a:t>Priority support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58276" y="2286000"/>
            <a:ext cx="3484778" cy="39776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2596" y="260604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  <a:latin typeface="Segoe UI"/>
              </a:rPr>
              <a:t>Enterprise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2596" y="2971800"/>
            <a:ext cx="293613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0284C7"/>
                </a:solidFill>
                <a:latin typeface="Segoe UI"/>
              </a:rPr>
              <a:t>Custom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2596" y="3977639"/>
            <a:ext cx="2936138" cy="20573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 algn="l" marL="182880" indent="-182880">
              <a:spcAft>
                <a:spcPts val="700"/>
              </a:spcAft>
              <a:buFont typeface="Arial" pitchFamily="34" charset="0"/>
              <a:buChar char="•"/>
            </a:pPr>
            <a:r>
              <a:rPr sz="1250" b="0" i="0">
                <a:solidFill>
                  <a:srgbClr val="334155"/>
                </a:solidFill>
                <a:latin typeface="Segoe UI"/>
              </a:rPr>
              <a:t>Unlimited users</a:t>
            </a:r>
          </a:p>
          <a:p>
            <a:pPr algn="l" marL="182880" indent="-182880">
              <a:spcAft>
                <a:spcPts val="700"/>
              </a:spcAft>
              <a:buFont typeface="Arial" pitchFamily="34" charset="0"/>
              <a:buChar char="•"/>
            </a:pPr>
            <a:r>
              <a:rPr sz="1250" b="0" i="0">
                <a:solidFill>
                  <a:srgbClr val="334155"/>
                </a:solidFill>
                <a:latin typeface="Segoe UI"/>
              </a:rPr>
              <a:t>Everything in Business</a:t>
            </a:r>
          </a:p>
          <a:p>
            <a:pPr algn="l" marL="182880" indent="-182880">
              <a:spcAft>
                <a:spcPts val="700"/>
              </a:spcAft>
              <a:buFont typeface="Arial" pitchFamily="34" charset="0"/>
              <a:buChar char="•"/>
            </a:pPr>
            <a:r>
              <a:rPr sz="1250" b="0" i="0">
                <a:solidFill>
                  <a:srgbClr val="334155"/>
                </a:solidFill>
                <a:latin typeface="Segoe UI"/>
              </a:rPr>
              <a:t>On-premise / private-cloud hosting</a:t>
            </a:r>
          </a:p>
          <a:p>
            <a:pPr algn="l" marL="182880" indent="-182880">
              <a:spcAft>
                <a:spcPts val="700"/>
              </a:spcAft>
              <a:buFont typeface="Arial" pitchFamily="34" charset="0"/>
              <a:buChar char="•"/>
            </a:pPr>
            <a:r>
              <a:rPr sz="1250" b="0" i="0">
                <a:solidFill>
                  <a:srgbClr val="334155"/>
                </a:solidFill>
                <a:latin typeface="Segoe UI"/>
              </a:rPr>
              <a:t>Custom integrations &amp; workflows</a:t>
            </a:r>
          </a:p>
          <a:p>
            <a:pPr algn="l" marL="182880" indent="-182880">
              <a:spcAft>
                <a:spcPts val="700"/>
              </a:spcAft>
              <a:buFont typeface="Arial" pitchFamily="34" charset="0"/>
              <a:buChar char="•"/>
            </a:pPr>
            <a:r>
              <a:rPr sz="1250" b="0" i="0">
                <a:solidFill>
                  <a:srgbClr val="334155"/>
                </a:solidFill>
                <a:latin typeface="Segoe UI"/>
              </a:rPr>
              <a:t>Dedicated success manager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284C7"/>
                </a:solidFill>
                <a:latin typeface="Segoe UI"/>
              </a:rPr>
              <a:t>THE OUTCOME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9441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Segoe UI"/>
              </a:rPr>
              <a:t>Why operations teams choose CargoFlow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44752"/>
            <a:ext cx="1143000" cy="457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6437376"/>
            <a:ext cx="11094415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Segoe UI"/>
              </a:rPr>
              <a:t>CargoFlow ERP  ·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14255" y="651052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Segoe UI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221991"/>
            <a:ext cx="6163056" cy="3511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0F172A"/>
                </a:solidFill>
                <a:latin typeface="Segoe UI"/>
              </a:rPr>
              <a:t>From chaos to clarity</a:t>
            </a:r>
          </a:p>
          <a:p>
            <a:pPr algn="l" marL="219456" indent="-219456">
              <a:spcAft>
                <a:spcPts val="1000"/>
              </a:spcAft>
              <a:buFont typeface="Arial" pitchFamily="34" charset="0"/>
              <a:buChar char="•"/>
            </a:pPr>
            <a:r>
              <a:rPr sz="1500" b="1" i="0">
                <a:solidFill>
                  <a:srgbClr val="334155"/>
                </a:solidFill>
                <a:latin typeface="Segoe UI"/>
              </a:rPr>
              <a:t>Replace the patchwork — </a:t>
            </a:r>
            <a:r>
              <a:rPr sz="1500" b="0" i="0">
                <a:solidFill>
                  <a:srgbClr val="334155"/>
                </a:solidFill>
                <a:latin typeface="Segoe UI"/>
              </a:rPr>
              <a:t>Spreadsheets and WhatsApp become a guided, trackable pipeline.</a:t>
            </a:r>
          </a:p>
          <a:p>
            <a:pPr algn="l" marL="219456" indent="-219456">
              <a:spcAft>
                <a:spcPts val="1000"/>
              </a:spcAft>
              <a:buFont typeface="Arial" pitchFamily="34" charset="0"/>
              <a:buChar char="•"/>
            </a:pPr>
            <a:r>
              <a:rPr sz="1500" b="1" i="0">
                <a:solidFill>
                  <a:srgbClr val="334155"/>
                </a:solidFill>
                <a:latin typeface="Segoe UI"/>
              </a:rPr>
              <a:t>See problems early — </a:t>
            </a:r>
            <a:r>
              <a:rPr sz="1500" b="0" i="0">
                <a:solidFill>
                  <a:srgbClr val="334155"/>
                </a:solidFill>
                <a:latin typeface="Segoe UI"/>
              </a:rPr>
              <a:t>Alerts surface missed ETAs, stuck jobs and expiring documents first.</a:t>
            </a:r>
          </a:p>
          <a:p>
            <a:pPr algn="l" marL="219456" indent="-219456">
              <a:spcAft>
                <a:spcPts val="1000"/>
              </a:spcAft>
              <a:buFont typeface="Arial" pitchFamily="34" charset="0"/>
              <a:buChar char="•"/>
            </a:pPr>
            <a:r>
              <a:rPr sz="1500" b="1" i="0">
                <a:solidFill>
                  <a:srgbClr val="334155"/>
                </a:solidFill>
                <a:latin typeface="Segoe UI"/>
              </a:rPr>
              <a:t>Know your real margins — </a:t>
            </a:r>
            <a:r>
              <a:rPr sz="1500" b="0" i="0">
                <a:solidFill>
                  <a:srgbClr val="334155"/>
                </a:solidFill>
                <a:latin typeface="Segoe UI"/>
              </a:rPr>
              <a:t>Profitability per shipment instead of end-of-year guesswork.</a:t>
            </a:r>
          </a:p>
          <a:p>
            <a:pPr algn="l" marL="219456" indent="-219456">
              <a:spcAft>
                <a:spcPts val="1000"/>
              </a:spcAft>
              <a:buFont typeface="Arial" pitchFamily="34" charset="0"/>
              <a:buChar char="•"/>
            </a:pPr>
            <a:r>
              <a:rPr sz="1500" b="1" i="0">
                <a:solidFill>
                  <a:srgbClr val="334155"/>
                </a:solidFill>
                <a:latin typeface="Segoe UI"/>
              </a:rPr>
              <a:t>Scale across modes — </a:t>
            </a:r>
            <a:r>
              <a:rPr sz="1500" b="0" i="0">
                <a:solidFill>
                  <a:srgbClr val="334155"/>
                </a:solidFill>
                <a:latin typeface="Segoe UI"/>
              </a:rPr>
              <a:t>Sea, air and warehouse in one system as you add branches and services.</a:t>
            </a:r>
          </a:p>
          <a:p>
            <a:pPr algn="l" marL="219456" indent="-219456">
              <a:spcAft>
                <a:spcPts val="1000"/>
              </a:spcAft>
              <a:buFont typeface="Arial" pitchFamily="34" charset="0"/>
              <a:buChar char="•"/>
            </a:pPr>
            <a:r>
              <a:rPr sz="1500" b="1" i="0">
                <a:solidFill>
                  <a:srgbClr val="334155"/>
                </a:solidFill>
                <a:latin typeface="Segoe UI"/>
              </a:rPr>
              <a:t>Keep data private — </a:t>
            </a:r>
            <a:r>
              <a:rPr sz="1500" b="0" i="0">
                <a:solidFill>
                  <a:srgbClr val="334155"/>
                </a:solidFill>
                <a:latin typeface="Segoe UI"/>
              </a:rPr>
              <a:t>Self-hosted with offline AI — no external vendor sees your shipments.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965960"/>
            <a:ext cx="4142232" cy="4023360"/>
          </a:xfrm>
          <a:prstGeom prst="roundRect">
            <a:avLst>
              <a:gd name="adj" fmla="val 6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79" y="1965960"/>
            <a:ext cx="82296" cy="402336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08975" y="2221991"/>
            <a:ext cx="35935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284C7"/>
                </a:solidFill>
                <a:latin typeface="Segoe UI"/>
              </a:rPr>
              <a:t>Measurable impact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08975" y="2679191"/>
            <a:ext cx="3520440" cy="3154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 algn="l" marL="219456" indent="-219456">
              <a:spcAft>
                <a:spcPts val="800"/>
              </a:spcAft>
              <a:buFont typeface="Arial" pitchFamily="34" charset="0"/>
              <a:buChar char="•"/>
            </a:pPr>
            <a:r>
              <a:rPr sz="1350" b="0" i="0">
                <a:solidFill>
                  <a:srgbClr val="334155"/>
                </a:solidFill>
                <a:latin typeface="Segoe UI"/>
              </a:rPr>
              <a:t>Faster quote-to-booking turnaround</a:t>
            </a:r>
          </a:p>
          <a:p>
            <a:pPr algn="l" marL="219456" indent="-219456">
              <a:spcAft>
                <a:spcPts val="800"/>
              </a:spcAft>
              <a:buFont typeface="Arial" pitchFamily="34" charset="0"/>
              <a:buChar char="•"/>
            </a:pPr>
            <a:r>
              <a:rPr sz="1350" b="0" i="0">
                <a:solidFill>
                  <a:srgbClr val="334155"/>
                </a:solidFill>
                <a:latin typeface="Segoe UI"/>
              </a:rPr>
              <a:t>Fewer missed deadlines and fines</a:t>
            </a:r>
          </a:p>
          <a:p>
            <a:pPr algn="l" marL="219456" indent="-219456">
              <a:spcAft>
                <a:spcPts val="800"/>
              </a:spcAft>
              <a:buFont typeface="Arial" pitchFamily="34" charset="0"/>
              <a:buChar char="•"/>
            </a:pPr>
            <a:r>
              <a:rPr sz="1350" b="0" i="0">
                <a:solidFill>
                  <a:srgbClr val="334155"/>
                </a:solidFill>
                <a:latin typeface="Segoe UI"/>
              </a:rPr>
              <a:t>Cleaner reconciliation for finance</a:t>
            </a:r>
          </a:p>
          <a:p>
            <a:pPr algn="l" marL="219456" indent="-219456">
              <a:spcAft>
                <a:spcPts val="800"/>
              </a:spcAft>
              <a:buFont typeface="Arial" pitchFamily="34" charset="0"/>
              <a:buChar char="•"/>
            </a:pPr>
            <a:r>
              <a:rPr sz="1350" b="0" i="0">
                <a:solidFill>
                  <a:srgbClr val="334155"/>
                </a:solidFill>
                <a:latin typeface="Segoe UI"/>
              </a:rPr>
              <a:t>Full audit trail on every shipment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08975" y="5029200"/>
            <a:ext cx="3520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284C7"/>
                </a:solidFill>
                <a:latin typeface="Segoe UI"/>
              </a:rPr>
              <a:t>End-to-end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08975" y="5532120"/>
            <a:ext cx="3520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Segoe UI"/>
              </a:rPr>
              <a:t>one system, one source of truth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-1828800"/>
            <a:ext cx="5486400" cy="5486400"/>
          </a:xfrm>
          <a:prstGeom prst="ellipse">
            <a:avLst/>
          </a:prstGeom>
          <a:solidFill>
            <a:srgbClr val="0E7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4206240" cy="4206240"/>
          </a:xfrm>
          <a:prstGeom prst="ellipse">
            <a:avLst/>
          </a:prstGeom>
          <a:solidFill>
            <a:srgbClr val="08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777240"/>
            <a:ext cx="777240" cy="777240"/>
          </a:xfrm>
          <a:prstGeom prst="roundRect">
            <a:avLst>
              <a:gd name="adj" fmla="val 26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550" b="1" i="0">
                <a:solidFill>
                  <a:srgbClr val="FFFFFF"/>
                </a:solidFill>
                <a:latin typeface="Segoe UI"/>
              </a:rPr>
              <a:t>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868680"/>
            <a:ext cx="5486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Cargo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868680"/>
            <a:ext cx="3657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7DD3FC"/>
                </a:solidFill>
                <a:latin typeface="Segoe UI"/>
              </a:rPr>
              <a:t>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2984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1">
                <a:solidFill>
                  <a:srgbClr val="BAE6FD"/>
                </a:solidFill>
                <a:latin typeface="Segoe UI"/>
              </a:rPr>
              <a:t>ERP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4028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 b="1" i="0">
                <a:solidFill>
                  <a:srgbClr val="FFFFFF"/>
                </a:solidFill>
                <a:latin typeface="Segoe UI"/>
              </a:rPr>
              <a:t>Ready to run your operations
on one platform?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703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7DD3FC"/>
                </a:solidFill>
                <a:latin typeface="Segoe UI"/>
              </a:rPr>
              <a:t>Book a live demo, start a 14-day free trial, and get a guided onboarding call.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4526280"/>
            <a:ext cx="2743200" cy="27432"/>
          </a:xfrm>
          <a:prstGeom prst="rect">
            <a:avLst/>
          </a:prstGeom>
          <a:solidFill>
            <a:srgbClr val="1E6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846320"/>
            <a:ext cx="9601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"/>
              </a:rPr>
              <a:t>sales@cargoflow.app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34924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9CC8E8"/>
                </a:solidFill>
                <a:latin typeface="Segoe UI"/>
              </a:rPr>
              <a:t>Demo  ·  14-day trial  ·  Guided onboarding  ·  Trilingual (EN / KH / ZH)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172200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7BA7C8"/>
                </a:solidFill>
                <a:latin typeface="Segoe UI"/>
              </a:rPr>
              <a:t>© 2026 CargoFlow ERP · Import, Export &amp; Air Freight Management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